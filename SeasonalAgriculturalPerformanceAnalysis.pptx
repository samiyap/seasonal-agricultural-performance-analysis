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6"/>
  </p:notesMasterIdLst>
  <p:handoutMasterIdLst>
    <p:handoutMasterId r:id="rId17"/>
  </p:handoutMasterIdLst>
  <p:sldIdLst>
    <p:sldId id="338" r:id="rId5"/>
    <p:sldId id="327" r:id="rId6"/>
    <p:sldId id="315" r:id="rId7"/>
    <p:sldId id="329" r:id="rId8"/>
    <p:sldId id="302" r:id="rId9"/>
    <p:sldId id="339" r:id="rId10"/>
    <p:sldId id="340" r:id="rId11"/>
    <p:sldId id="341" r:id="rId12"/>
    <p:sldId id="342" r:id="rId13"/>
    <p:sldId id="343" r:id="rId14"/>
    <p:sldId id="304"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95" d="100"/>
          <a:sy n="95" d="100"/>
        </p:scale>
        <p:origin x="110"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SamiyaP/Seasonal-Agricultural-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B63AE25-1FC2-2AEC-B6EE-39FB8A753635}"/>
              </a:ext>
            </a:extLst>
          </p:cNvPr>
          <p:cNvSpPr/>
          <p:nvPr/>
        </p:nvSpPr>
        <p:spPr>
          <a:xfrm>
            <a:off x="3304674" y="1114926"/>
            <a:ext cx="2398294" cy="81798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EACECD54-FDB0-47EF-3DAD-B8C16C56DD52}"/>
              </a:ext>
            </a:extLst>
          </p:cNvPr>
          <p:cNvSpPr/>
          <p:nvPr/>
        </p:nvSpPr>
        <p:spPr>
          <a:xfrm>
            <a:off x="918410" y="1887955"/>
            <a:ext cx="8935452" cy="1023687"/>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628988" y="3429000"/>
            <a:ext cx="7514295" cy="861497"/>
          </a:xfrm>
          <a:ln>
            <a:solidFill>
              <a:schemeClr val="bg1">
                <a:lumMod val="65000"/>
              </a:schemeClr>
            </a:solidFill>
          </a:ln>
        </p:spPr>
        <p:txBody>
          <a:bodyPr vert="horz" lIns="91440" tIns="45720" rIns="91440" bIns="45720" rtlCol="0" anchor="t">
            <a:normAutofit fontScale="77500" lnSpcReduction="20000"/>
          </a:bodyPr>
          <a:lstStyle/>
          <a:p>
            <a:pPr algn="ctr"/>
            <a:r>
              <a:rPr lang="en-IN" sz="2800" dirty="0">
                <a:solidFill>
                  <a:schemeClr val="tx1"/>
                </a:solidFill>
                <a:latin typeface="Cambria" panose="02040503050406030204" pitchFamily="18" charset="0"/>
                <a:ea typeface="Cambria" panose="02040503050406030204" pitchFamily="18" charset="0"/>
              </a:rPr>
              <a:t>Samiya </a:t>
            </a:r>
            <a:r>
              <a:rPr lang="en-IN" sz="2800" dirty="0" err="1">
                <a:solidFill>
                  <a:schemeClr val="tx1"/>
                </a:solidFill>
                <a:latin typeface="Cambria" panose="02040503050406030204" pitchFamily="18" charset="0"/>
                <a:ea typeface="Cambria" panose="02040503050406030204" pitchFamily="18" charset="0"/>
              </a:rPr>
              <a:t>Rahiman</a:t>
            </a:r>
            <a:r>
              <a:rPr lang="en-IN" sz="2800" dirty="0">
                <a:solidFill>
                  <a:schemeClr val="tx1"/>
                </a:solidFill>
                <a:latin typeface="Cambria" panose="02040503050406030204" pitchFamily="18" charset="0"/>
                <a:ea typeface="Cambria" panose="02040503050406030204" pitchFamily="18" charset="0"/>
              </a:rPr>
              <a:t> Patel</a:t>
            </a:r>
          </a:p>
          <a:p>
            <a:pPr algn="ctr"/>
            <a:r>
              <a:rPr lang="en-US" b="0" dirty="0">
                <a:solidFill>
                  <a:schemeClr val="tx1"/>
                </a:solidFill>
                <a:latin typeface="Cambria" panose="02040503050406030204" pitchFamily="18" charset="0"/>
                <a:ea typeface="Cambria" panose="02040503050406030204" pitchFamily="18" charset="0"/>
              </a:rPr>
              <a:t>Vivekanand Education Society's College of Arts, Science &amp; Commerce (Autonomous)</a:t>
            </a:r>
            <a:endParaRPr lang="en-IN" b="0" dirty="0">
              <a:solidFill>
                <a:schemeClr val="tx1"/>
              </a:solidFill>
              <a:latin typeface="Cambria" panose="02040503050406030204" pitchFamily="18" charset="0"/>
              <a:ea typeface="Cambria" panose="02040503050406030204" pitchFamily="18" charset="0"/>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036370" y="2037181"/>
            <a:ext cx="8676590" cy="740612"/>
          </a:xfrm>
          <a:solidFill>
            <a:srgbClr val="0070C0"/>
          </a:solidFill>
        </p:spPr>
        <p:txBody>
          <a:bodyPr>
            <a:noAutofit/>
          </a:bodyPr>
          <a:lstStyle/>
          <a:p>
            <a:pPr algn="ctr"/>
            <a:r>
              <a:rPr lang="en-GB" sz="3200" b="1" dirty="0">
                <a:solidFill>
                  <a:schemeClr val="bg1"/>
                </a:solidFill>
                <a:latin typeface="Cambria" panose="02040503050406030204" pitchFamily="18" charset="0"/>
                <a:ea typeface="Cambria" panose="02040503050406030204" pitchFamily="18" charset="0"/>
              </a:rPr>
              <a:t>Seasonal Agricultural Performance Analysis</a:t>
            </a:r>
            <a:endParaRPr lang="en-IN" sz="3200" b="1" dirty="0">
              <a:solidFill>
                <a:schemeClr val="bg1"/>
              </a:solidFill>
              <a:latin typeface="Cambria" panose="02040503050406030204" pitchFamily="18" charset="0"/>
              <a:ea typeface="Cambria" panose="02040503050406030204" pitchFamily="18" charset="0"/>
            </a:endParaRP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2781299" y="4607800"/>
            <a:ext cx="5843337" cy="400110"/>
          </a:xfrm>
          <a:prstGeom prst="rect">
            <a:avLst/>
          </a:prstGeom>
          <a:noFill/>
        </p:spPr>
        <p:txBody>
          <a:bodyPr wrap="square" rtlCol="0">
            <a:spAutoFit/>
          </a:bodyPr>
          <a:lstStyle/>
          <a:p>
            <a:r>
              <a:rPr lang="en-US" sz="2000" b="1" dirty="0">
                <a:latin typeface="Cambria" panose="02040503050406030204" pitchFamily="18" charset="0"/>
                <a:ea typeface="Cambria" panose="02040503050406030204" pitchFamily="18" charset="0"/>
              </a:rPr>
              <a:t>AICTE STU ID : STU6a63ae83c95261784917635</a:t>
            </a:r>
          </a:p>
        </p:txBody>
      </p:sp>
      <p:sp>
        <p:nvSpPr>
          <p:cNvPr id="8" name="Rectangle 7">
            <a:extLst>
              <a:ext uri="{FF2B5EF4-FFF2-40B4-BE49-F238E27FC236}">
                <a16:creationId xmlns:a16="http://schemas.microsoft.com/office/drawing/2014/main" id="{22ED8C1D-3A17-C8BA-228D-1B39071CDFB8}"/>
              </a:ext>
            </a:extLst>
          </p:cNvPr>
          <p:cNvSpPr/>
          <p:nvPr/>
        </p:nvSpPr>
        <p:spPr>
          <a:xfrm>
            <a:off x="3465095" y="5125453"/>
            <a:ext cx="1788694" cy="9144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animBg="1"/>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36764" y="1947746"/>
            <a:ext cx="6431280" cy="3607987"/>
          </a:xfrm>
        </p:spPr>
        <p:txBody>
          <a:bodyPr vert="horz" lIns="91440" tIns="45720" rIns="91440" bIns="45720" rtlCol="0" anchor="t">
            <a:normAutofit fontScale="77500" lnSpcReduction="20000"/>
          </a:bodyPr>
          <a:lstStyle/>
          <a:p>
            <a:pPr>
              <a:lnSpc>
                <a:spcPct val="100000"/>
              </a:lnSpc>
            </a:pPr>
            <a:r>
              <a:rPr lang="en-IN" sz="2800" dirty="0">
                <a:latin typeface="Cambria" panose="02040503050406030204" pitchFamily="18" charset="0"/>
                <a:ea typeface="Cambria" panose="02040503050406030204" pitchFamily="18" charset="0"/>
              </a:rPr>
              <a:t>Agricultural productivity and profitability are influenced by multiple factors such as weather conditions, soil characteristics, irrigation methods, farm inputs, and crop selection. However, farmers often face challenges in identifying the key factors that maximize yield, optimize resource utilization, and improve profitability. This study aims to </a:t>
            </a:r>
            <a:r>
              <a:rPr lang="en-IN" sz="2800" dirty="0" err="1">
                <a:latin typeface="Cambria" panose="02040503050406030204" pitchFamily="18" charset="0"/>
                <a:ea typeface="Cambria" panose="02040503050406030204" pitchFamily="18" charset="0"/>
              </a:rPr>
              <a:t>analyze</a:t>
            </a:r>
            <a:r>
              <a:rPr lang="en-IN" sz="2800" dirty="0">
                <a:latin typeface="Cambria" panose="02040503050406030204" pitchFamily="18" charset="0"/>
                <a:ea typeface="Cambria" panose="02040503050406030204" pitchFamily="18" charset="0"/>
              </a:rPr>
              <a:t> seasonal agricultural performance data to identify the factors affecting crop production, water efficiency, and farm profitability, and to provide data-driven recommendations for sustainable agricultural practices.</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latin typeface="Cambria" panose="02040503050406030204" pitchFamily="18" charset="0"/>
                <a:ea typeface="Cambria" panose="02040503050406030204" pitchFamily="18" charset="0"/>
              </a:rPr>
              <a:t>PROBLEM  STATEMENT</a:t>
            </a:r>
            <a:endParaRPr lang="en-IN" dirty="0">
              <a:latin typeface="Cambria" panose="02040503050406030204" pitchFamily="18" charset="0"/>
              <a:ea typeface="Cambria" panose="02040503050406030204" pitchFamily="18" charset="0"/>
            </a:endParaRP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8" y="692919"/>
            <a:ext cx="6276109" cy="830997"/>
          </a:xfrm>
        </p:spPr>
        <p:txBody>
          <a:bodyPr>
            <a:normAutofit fontScale="90000"/>
          </a:bodyPr>
          <a:lstStyle/>
          <a:p>
            <a:r>
              <a:rPr lang="en-GB" dirty="0">
                <a:latin typeface="Cambria" panose="02040503050406030204" pitchFamily="18" charset="0"/>
                <a:ea typeface="Cambria" panose="02040503050406030204" pitchFamily="18" charset="0"/>
              </a:rPr>
              <a:t>Project Description</a:t>
            </a:r>
            <a:br>
              <a:rPr lang="en-GB" dirty="0"/>
            </a:b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5C24B320-401E-D0AE-2547-CD3678F24766}"/>
              </a:ext>
            </a:extLst>
          </p:cNvPr>
          <p:cNvSpPr txBox="1"/>
          <p:nvPr/>
        </p:nvSpPr>
        <p:spPr>
          <a:xfrm>
            <a:off x="819726" y="1793030"/>
            <a:ext cx="5957454" cy="3816429"/>
          </a:xfrm>
          <a:prstGeom prst="rect">
            <a:avLst/>
          </a:prstGeom>
          <a:noFill/>
        </p:spPr>
        <p:txBody>
          <a:bodyPr wrap="square" rtlCol="0">
            <a:spAutoFit/>
          </a:bodyPr>
          <a:lstStyle/>
          <a:p>
            <a:pPr marL="342900" indent="-342900">
              <a:buFont typeface="Arial" panose="020B0604020202020204" pitchFamily="34" charset="0"/>
              <a:buChar char="•"/>
            </a:pPr>
            <a:r>
              <a:rPr lang="en-IN" sz="2200" dirty="0">
                <a:latin typeface="Cambria" panose="02040503050406030204" pitchFamily="18" charset="0"/>
                <a:ea typeface="Cambria" panose="02040503050406030204" pitchFamily="18" charset="0"/>
              </a:rPr>
              <a:t>This project </a:t>
            </a:r>
            <a:r>
              <a:rPr lang="en-IN" sz="2200" dirty="0" err="1">
                <a:latin typeface="Cambria" panose="02040503050406030204" pitchFamily="18" charset="0"/>
                <a:ea typeface="Cambria" panose="02040503050406030204" pitchFamily="18" charset="0"/>
              </a:rPr>
              <a:t>analyzes</a:t>
            </a:r>
            <a:r>
              <a:rPr lang="en-IN" sz="2200" dirty="0">
                <a:latin typeface="Cambria" panose="02040503050406030204" pitchFamily="18" charset="0"/>
                <a:ea typeface="Cambria" panose="02040503050406030204" pitchFamily="18" charset="0"/>
              </a:rPr>
              <a:t> seasonal agricultural performance using data on crops, weather conditions, soil properties, irrigation methods, and farm inputs. The objective is to identify factors affecting crop yield, production, profitability, and water efficiency. Through data analysis and visualization, the study provides insights that can help improve agricultural productivity, resource utilization, and sustainable farming practices.</a:t>
            </a:r>
            <a:br>
              <a:rPr lang="en-IN" sz="2200" dirty="0">
                <a:latin typeface="Cambria" panose="02040503050406030204" pitchFamily="18" charset="0"/>
                <a:ea typeface="Cambria" panose="02040503050406030204" pitchFamily="18" charset="0"/>
              </a:rPr>
            </a:b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03965" y="291081"/>
            <a:ext cx="10046070" cy="583216"/>
          </a:xfrm>
        </p:spPr>
        <p:txBody>
          <a:bodyPr>
            <a:normAutofit/>
          </a:bodyPr>
          <a:lstStyle/>
          <a:p>
            <a:r>
              <a:rPr lang="en-US" sz="3200" dirty="0">
                <a:latin typeface="Cambria" panose="02040503050406030204" pitchFamily="18" charset="0"/>
                <a:ea typeface="Cambria" panose="02040503050406030204" pitchFamily="18" charset="0"/>
              </a:rPr>
              <a:t>WHO ARE THE END USERS?</a:t>
            </a:r>
            <a:endParaRPr lang="en-IN" sz="2000" dirty="0">
              <a:latin typeface="Cambria" panose="02040503050406030204" pitchFamily="18" charset="0"/>
              <a:ea typeface="Cambria" panose="02040503050406030204" pitchFamily="18" charset="0"/>
            </a:endParaRPr>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488749" y="6457541"/>
            <a:ext cx="2181225" cy="400460"/>
          </a:xfrm>
          <a:prstGeom prst="rect">
            <a:avLst/>
          </a:prstGeom>
        </p:spPr>
      </p:pic>
      <p:sp>
        <p:nvSpPr>
          <p:cNvPr id="5" name="Rectangle 4">
            <a:extLst>
              <a:ext uri="{FF2B5EF4-FFF2-40B4-BE49-F238E27FC236}">
                <a16:creationId xmlns:a16="http://schemas.microsoft.com/office/drawing/2014/main" id="{317FAD17-52DC-48F3-6C6D-9A070FDD8565}"/>
              </a:ext>
            </a:extLst>
          </p:cNvPr>
          <p:cNvSpPr/>
          <p:nvPr/>
        </p:nvSpPr>
        <p:spPr>
          <a:xfrm>
            <a:off x="6513095" y="1556084"/>
            <a:ext cx="906379" cy="89835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 name="Picture 9">
            <a:extLst>
              <a:ext uri="{FF2B5EF4-FFF2-40B4-BE49-F238E27FC236}">
                <a16:creationId xmlns:a16="http://schemas.microsoft.com/office/drawing/2014/main" id="{FC566A8D-576D-1CCA-4DF6-033E6DFDEE81}"/>
              </a:ext>
            </a:extLst>
          </p:cNvPr>
          <p:cNvPicPr>
            <a:picLocks noChangeAspect="1"/>
          </p:cNvPicPr>
          <p:nvPr/>
        </p:nvPicPr>
        <p:blipFill>
          <a:blip r:embed="rId3"/>
          <a:srcRect t="11716" b="5370"/>
          <a:stretch>
            <a:fillRect/>
          </a:stretch>
        </p:blipFill>
        <p:spPr>
          <a:xfrm>
            <a:off x="1235242" y="1042739"/>
            <a:ext cx="7034464" cy="5694778"/>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0" y="4831266"/>
            <a:ext cx="1147011" cy="1998918"/>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0"/>
            <a:r>
              <a:rPr lang="en-IN" b="1" dirty="0">
                <a:latin typeface="Cambria" panose="02040503050406030204" pitchFamily="18" charset="0"/>
                <a:ea typeface="Cambria" panose="02040503050406030204" pitchFamily="18" charset="0"/>
              </a:rPr>
              <a:t>Python</a:t>
            </a:r>
            <a:r>
              <a:rPr lang="en-IN" dirty="0">
                <a:latin typeface="Cambria" panose="02040503050406030204" pitchFamily="18" charset="0"/>
                <a:ea typeface="Cambria" panose="02040503050406030204" pitchFamily="18" charset="0"/>
              </a:rPr>
              <a:t> – Data analysis and processing </a:t>
            </a:r>
          </a:p>
          <a:p>
            <a:pPr lvl="0"/>
            <a:r>
              <a:rPr lang="en-IN" b="1" dirty="0">
                <a:latin typeface="Cambria" panose="02040503050406030204" pitchFamily="18" charset="0"/>
                <a:ea typeface="Cambria" panose="02040503050406030204" pitchFamily="18" charset="0"/>
              </a:rPr>
              <a:t>Pandas</a:t>
            </a:r>
            <a:r>
              <a:rPr lang="en-IN" dirty="0">
                <a:latin typeface="Cambria" panose="02040503050406030204" pitchFamily="18" charset="0"/>
                <a:ea typeface="Cambria" panose="02040503050406030204" pitchFamily="18" charset="0"/>
              </a:rPr>
              <a:t> – Data cleaning, manipulation, and aggregation </a:t>
            </a:r>
          </a:p>
          <a:p>
            <a:pPr lvl="0"/>
            <a:r>
              <a:rPr lang="en-IN" b="1" dirty="0">
                <a:latin typeface="Cambria" panose="02040503050406030204" pitchFamily="18" charset="0"/>
                <a:ea typeface="Cambria" panose="02040503050406030204" pitchFamily="18" charset="0"/>
              </a:rPr>
              <a:t>NumPy</a:t>
            </a:r>
            <a:r>
              <a:rPr lang="en-IN" dirty="0">
                <a:latin typeface="Cambria" panose="02040503050406030204" pitchFamily="18" charset="0"/>
                <a:ea typeface="Cambria" panose="02040503050406030204" pitchFamily="18" charset="0"/>
              </a:rPr>
              <a:t> – Numerical calculations </a:t>
            </a:r>
          </a:p>
          <a:p>
            <a:pPr lvl="0"/>
            <a:r>
              <a:rPr lang="en-IN" b="1" dirty="0">
                <a:latin typeface="Cambria" panose="02040503050406030204" pitchFamily="18" charset="0"/>
                <a:ea typeface="Cambria" panose="02040503050406030204" pitchFamily="18" charset="0"/>
              </a:rPr>
              <a:t>Matplotlib</a:t>
            </a:r>
            <a:r>
              <a:rPr lang="en-IN" dirty="0">
                <a:latin typeface="Cambria" panose="02040503050406030204" pitchFamily="18" charset="0"/>
                <a:ea typeface="Cambria" panose="02040503050406030204" pitchFamily="18" charset="0"/>
              </a:rPr>
              <a:t> – Data visualization </a:t>
            </a:r>
          </a:p>
          <a:p>
            <a:pPr lvl="0"/>
            <a:r>
              <a:rPr lang="en-IN" b="1" dirty="0">
                <a:latin typeface="Cambria" panose="02040503050406030204" pitchFamily="18" charset="0"/>
                <a:ea typeface="Cambria" panose="02040503050406030204" pitchFamily="18" charset="0"/>
              </a:rPr>
              <a:t>Seaborn</a:t>
            </a:r>
            <a:r>
              <a:rPr lang="en-IN" dirty="0">
                <a:latin typeface="Cambria" panose="02040503050406030204" pitchFamily="18" charset="0"/>
                <a:ea typeface="Cambria" panose="02040503050406030204" pitchFamily="18" charset="0"/>
              </a:rPr>
              <a:t> – Statistical visualization and charts </a:t>
            </a:r>
          </a:p>
          <a:p>
            <a:pPr lvl="0"/>
            <a:r>
              <a:rPr lang="en-IN" b="1" dirty="0">
                <a:latin typeface="Cambria" panose="02040503050406030204" pitchFamily="18" charset="0"/>
                <a:ea typeface="Cambria" panose="02040503050406030204" pitchFamily="18" charset="0"/>
              </a:rPr>
              <a:t>Google </a:t>
            </a:r>
            <a:r>
              <a:rPr lang="en-IN" b="1" dirty="0" err="1">
                <a:latin typeface="Cambria" panose="02040503050406030204" pitchFamily="18" charset="0"/>
                <a:ea typeface="Cambria" panose="02040503050406030204" pitchFamily="18" charset="0"/>
              </a:rPr>
              <a:t>Colab</a:t>
            </a:r>
            <a:r>
              <a:rPr lang="en-IN" dirty="0">
                <a:latin typeface="Cambria" panose="02040503050406030204" pitchFamily="18" charset="0"/>
                <a:ea typeface="Cambria" panose="02040503050406030204" pitchFamily="18" charset="0"/>
              </a:rPr>
              <a:t> – Development and analysis environment</a:t>
            </a:r>
          </a:p>
          <a:p>
            <a:pPr lvl="1">
              <a:lnSpc>
                <a:spcPct val="150000"/>
              </a:lnSpc>
            </a:pPr>
            <a:endParaRPr lang="en-IN" dirty="0">
              <a:latin typeface="Cambria" panose="02040503050406030204" pitchFamily="18" charset="0"/>
              <a:ea typeface="Cambria" panose="02040503050406030204" pitchFamily="18" charset="0"/>
            </a:endParaRP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latin typeface="Cambria" panose="02040503050406030204" pitchFamily="18" charset="0"/>
                <a:ea typeface="Cambria" panose="02040503050406030204" pitchFamily="18" charset="0"/>
              </a:rPr>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313429" y="4571"/>
            <a:ext cx="2498099" cy="495684"/>
          </a:xfrm>
        </p:spPr>
        <p:txBody>
          <a:bodyPr>
            <a:noAutofit/>
          </a:bodyPr>
          <a:lstStyle/>
          <a:p>
            <a:r>
              <a:rPr lang="en-GB" sz="3600" dirty="0">
                <a:latin typeface="Cambria" panose="02040503050406030204" pitchFamily="18" charset="0"/>
                <a:ea typeface="Cambria" panose="02040503050406030204" pitchFamily="18" charset="0"/>
              </a:rPr>
              <a:t>RESULTS</a:t>
            </a:r>
            <a:r>
              <a:rPr lang="en-GB" dirty="0">
                <a:latin typeface="Cambria" panose="02040503050406030204" pitchFamily="18" charset="0"/>
                <a:ea typeface="Cambria" panose="02040503050406030204" pitchFamily="18" charset="0"/>
              </a:rPr>
              <a:t> </a:t>
            </a:r>
            <a:endParaRPr lang="en-IN" dirty="0">
              <a:latin typeface="Cambria" panose="02040503050406030204" pitchFamily="18" charset="0"/>
              <a:ea typeface="Cambria" panose="02040503050406030204" pitchFamily="18" charset="0"/>
            </a:endParaRP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103804" y="2724894"/>
            <a:ext cx="3777915" cy="924560"/>
          </a:xfrm>
        </p:spPr>
        <p:txBody>
          <a:bodyPr vert="horz" lIns="91440" tIns="45720" rIns="91440" bIns="45720" rtlCol="0" anchor="t">
            <a:noAutofit/>
          </a:bodyPr>
          <a:lstStyle/>
          <a:p>
            <a:r>
              <a:rPr lang="en-IN" sz="900" dirty="0"/>
              <a:t>Sugarcane → Highest average yield, far exceeding all others.</a:t>
            </a:r>
          </a:p>
          <a:p>
            <a:r>
              <a:rPr lang="en-IN" sz="900" dirty="0"/>
              <a:t>Maize, Rice, Wheat → Moderate yields.</a:t>
            </a:r>
          </a:p>
          <a:p>
            <a:r>
              <a:rPr lang="en-IN" sz="900" dirty="0"/>
              <a:t>Chilli, Groundnut, Cotton, Pulses → Lower yields compared to staples and sugarcane.</a:t>
            </a:r>
          </a:p>
        </p:txBody>
      </p:sp>
      <p:pic>
        <p:nvPicPr>
          <p:cNvPr id="3" name="Picture 2">
            <a:extLst>
              <a:ext uri="{FF2B5EF4-FFF2-40B4-BE49-F238E27FC236}">
                <a16:creationId xmlns:a16="http://schemas.microsoft.com/office/drawing/2014/main" id="{F7F65073-DEF6-5605-E337-524706726831}"/>
              </a:ext>
            </a:extLst>
          </p:cNvPr>
          <p:cNvPicPr>
            <a:picLocks noChangeAspect="1"/>
          </p:cNvPicPr>
          <p:nvPr/>
        </p:nvPicPr>
        <p:blipFill>
          <a:blip r:embed="rId3"/>
          <a:stretch>
            <a:fillRect/>
          </a:stretch>
        </p:blipFill>
        <p:spPr>
          <a:xfrm>
            <a:off x="313429" y="857175"/>
            <a:ext cx="3553186" cy="1859390"/>
          </a:xfrm>
          <a:prstGeom prst="rect">
            <a:avLst/>
          </a:prstGeom>
        </p:spPr>
      </p:pic>
      <p:pic>
        <p:nvPicPr>
          <p:cNvPr id="9" name="Picture 8">
            <a:extLst>
              <a:ext uri="{FF2B5EF4-FFF2-40B4-BE49-F238E27FC236}">
                <a16:creationId xmlns:a16="http://schemas.microsoft.com/office/drawing/2014/main" id="{1E908C13-9713-78CA-B4C1-C4B73EE69148}"/>
              </a:ext>
            </a:extLst>
          </p:cNvPr>
          <p:cNvPicPr>
            <a:picLocks noChangeAspect="1"/>
          </p:cNvPicPr>
          <p:nvPr/>
        </p:nvPicPr>
        <p:blipFill>
          <a:blip r:embed="rId4"/>
          <a:stretch>
            <a:fillRect/>
          </a:stretch>
        </p:blipFill>
        <p:spPr>
          <a:xfrm>
            <a:off x="313429" y="3657783"/>
            <a:ext cx="3343561" cy="2547940"/>
          </a:xfrm>
          <a:prstGeom prst="rect">
            <a:avLst/>
          </a:prstGeom>
        </p:spPr>
      </p:pic>
      <p:sp>
        <p:nvSpPr>
          <p:cNvPr id="13" name="Text Placeholder 1">
            <a:extLst>
              <a:ext uri="{FF2B5EF4-FFF2-40B4-BE49-F238E27FC236}">
                <a16:creationId xmlns:a16="http://schemas.microsoft.com/office/drawing/2014/main" id="{18AA7AAF-6AA6-41E2-39F5-7DBC881FC893}"/>
              </a:ext>
            </a:extLst>
          </p:cNvPr>
          <p:cNvSpPr txBox="1">
            <a:spLocks/>
          </p:cNvSpPr>
          <p:nvPr/>
        </p:nvSpPr>
        <p:spPr>
          <a:xfrm>
            <a:off x="103804" y="6202680"/>
            <a:ext cx="3777915" cy="924560"/>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900" dirty="0"/>
              <a:t>Chilli’s premium value: Despite lower production and fewer farms, Chilli commands the highest price, making it a high-value cash crop.</a:t>
            </a:r>
          </a:p>
        </p:txBody>
      </p:sp>
      <p:pic>
        <p:nvPicPr>
          <p:cNvPr id="15" name="Picture 14">
            <a:extLst>
              <a:ext uri="{FF2B5EF4-FFF2-40B4-BE49-F238E27FC236}">
                <a16:creationId xmlns:a16="http://schemas.microsoft.com/office/drawing/2014/main" id="{A174946E-D106-40B2-C3A3-E7D4C2F33281}"/>
              </a:ext>
            </a:extLst>
          </p:cNvPr>
          <p:cNvPicPr>
            <a:picLocks noChangeAspect="1"/>
          </p:cNvPicPr>
          <p:nvPr/>
        </p:nvPicPr>
        <p:blipFill>
          <a:blip r:embed="rId5"/>
          <a:srcRect t="1443"/>
          <a:stretch>
            <a:fillRect/>
          </a:stretch>
        </p:blipFill>
        <p:spPr>
          <a:xfrm>
            <a:off x="4130121" y="792699"/>
            <a:ext cx="3559134" cy="1867719"/>
          </a:xfrm>
          <a:prstGeom prst="rect">
            <a:avLst/>
          </a:prstGeom>
        </p:spPr>
      </p:pic>
      <p:sp>
        <p:nvSpPr>
          <p:cNvPr id="18" name="Text Placeholder 1">
            <a:extLst>
              <a:ext uri="{FF2B5EF4-FFF2-40B4-BE49-F238E27FC236}">
                <a16:creationId xmlns:a16="http://schemas.microsoft.com/office/drawing/2014/main" id="{C8D87F63-FC67-E0E4-4694-E6755ABA51ED}"/>
              </a:ext>
            </a:extLst>
          </p:cNvPr>
          <p:cNvSpPr txBox="1">
            <a:spLocks/>
          </p:cNvSpPr>
          <p:nvPr/>
        </p:nvSpPr>
        <p:spPr>
          <a:xfrm>
            <a:off x="4020730" y="2660418"/>
            <a:ext cx="3777915" cy="1093435"/>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900" dirty="0"/>
              <a:t>Cash crops dominate: Sugarcane and Chilli stand out as highly profitable, likely due to strong market demand and higher price per tonne.</a:t>
            </a:r>
          </a:p>
          <a:p>
            <a:r>
              <a:rPr lang="en-IN" sz="900" dirty="0"/>
              <a:t>Staple crops (Rice, Wheat, Pulses): Lower profitability despite being essential for food security. This reflects lower market prices and higher production costs relative to returns.</a:t>
            </a:r>
          </a:p>
        </p:txBody>
      </p:sp>
      <p:pic>
        <p:nvPicPr>
          <p:cNvPr id="20" name="Picture 19">
            <a:extLst>
              <a:ext uri="{FF2B5EF4-FFF2-40B4-BE49-F238E27FC236}">
                <a16:creationId xmlns:a16="http://schemas.microsoft.com/office/drawing/2014/main" id="{0E2E621B-EA9B-9FD3-B98E-4475570B2D40}"/>
              </a:ext>
            </a:extLst>
          </p:cNvPr>
          <p:cNvPicPr>
            <a:picLocks noChangeAspect="1"/>
          </p:cNvPicPr>
          <p:nvPr/>
        </p:nvPicPr>
        <p:blipFill>
          <a:blip r:embed="rId6"/>
          <a:stretch>
            <a:fillRect/>
          </a:stretch>
        </p:blipFill>
        <p:spPr>
          <a:xfrm>
            <a:off x="4128517" y="3753853"/>
            <a:ext cx="3595688" cy="1981200"/>
          </a:xfrm>
          <a:prstGeom prst="rect">
            <a:avLst/>
          </a:prstGeom>
        </p:spPr>
      </p:pic>
      <p:sp>
        <p:nvSpPr>
          <p:cNvPr id="21" name="Text Placeholder 1">
            <a:extLst>
              <a:ext uri="{FF2B5EF4-FFF2-40B4-BE49-F238E27FC236}">
                <a16:creationId xmlns:a16="http://schemas.microsoft.com/office/drawing/2014/main" id="{42176E58-9EB7-1B44-8628-640F4686D48F}"/>
              </a:ext>
            </a:extLst>
          </p:cNvPr>
          <p:cNvSpPr txBox="1">
            <a:spLocks/>
          </p:cNvSpPr>
          <p:nvPr/>
        </p:nvSpPr>
        <p:spPr>
          <a:xfrm>
            <a:off x="4020729" y="5735053"/>
            <a:ext cx="3777915" cy="1093435"/>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lvl="0"/>
            <a:r>
              <a:rPr lang="en-IN" sz="900" dirty="0"/>
              <a:t>Sugarcane dominates: Yield is far higher than all other crops (up to ~60 tonnes/ha), especially in the Kharif season.</a:t>
            </a:r>
          </a:p>
          <a:p>
            <a:pPr lvl="0"/>
            <a:r>
              <a:rPr lang="en-IN" sz="900" dirty="0"/>
              <a:t>Other crops (Wheat, Maize, Pulses, Rice, Cotton, Chilli, Groundnut): All remain below 5 tonnes/ha across seasons.</a:t>
            </a:r>
          </a:p>
        </p:txBody>
      </p:sp>
      <p:sp>
        <p:nvSpPr>
          <p:cNvPr id="22" name="Rectangle 21">
            <a:extLst>
              <a:ext uri="{FF2B5EF4-FFF2-40B4-BE49-F238E27FC236}">
                <a16:creationId xmlns:a16="http://schemas.microsoft.com/office/drawing/2014/main" id="{316007E6-B3AF-4636-1058-17107E03AE86}"/>
              </a:ext>
            </a:extLst>
          </p:cNvPr>
          <p:cNvSpPr/>
          <p:nvPr/>
        </p:nvSpPr>
        <p:spPr>
          <a:xfrm>
            <a:off x="8991600" y="-160421"/>
            <a:ext cx="3200400" cy="701842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4" name="Picture 23">
            <a:extLst>
              <a:ext uri="{FF2B5EF4-FFF2-40B4-BE49-F238E27FC236}">
                <a16:creationId xmlns:a16="http://schemas.microsoft.com/office/drawing/2014/main" id="{E4505B18-225C-692F-9162-3EC8D64D29C2}"/>
              </a:ext>
            </a:extLst>
          </p:cNvPr>
          <p:cNvPicPr>
            <a:picLocks noChangeAspect="1"/>
          </p:cNvPicPr>
          <p:nvPr/>
        </p:nvPicPr>
        <p:blipFill>
          <a:blip r:embed="rId7"/>
          <a:stretch>
            <a:fillRect/>
          </a:stretch>
        </p:blipFill>
        <p:spPr>
          <a:xfrm>
            <a:off x="7798644" y="729981"/>
            <a:ext cx="3942825" cy="1994913"/>
          </a:xfrm>
          <a:prstGeom prst="rect">
            <a:avLst/>
          </a:prstGeom>
        </p:spPr>
      </p:pic>
      <p:sp>
        <p:nvSpPr>
          <p:cNvPr id="27" name="Text Placeholder 1">
            <a:extLst>
              <a:ext uri="{FF2B5EF4-FFF2-40B4-BE49-F238E27FC236}">
                <a16:creationId xmlns:a16="http://schemas.microsoft.com/office/drawing/2014/main" id="{853F633A-3983-FA9F-E757-12FA9F39A87D}"/>
              </a:ext>
            </a:extLst>
          </p:cNvPr>
          <p:cNvSpPr txBox="1">
            <a:spLocks/>
          </p:cNvSpPr>
          <p:nvPr/>
        </p:nvSpPr>
        <p:spPr>
          <a:xfrm>
            <a:off x="7798644" y="2731577"/>
            <a:ext cx="3949331" cy="541125"/>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900" dirty="0"/>
              <a:t>Punjab has highest productivity followed by </a:t>
            </a:r>
            <a:r>
              <a:rPr lang="en-IN" sz="900" dirty="0" err="1"/>
              <a:t>Karnataka,Gujrat,Telangana</a:t>
            </a:r>
            <a:r>
              <a:rPr lang="en-IN" sz="900" dirty="0"/>
              <a:t>, Maharashtra, Madhya Pradesh, Tamil Nadu and then Andhra Pradesh</a:t>
            </a:r>
          </a:p>
        </p:txBody>
      </p:sp>
      <p:sp>
        <p:nvSpPr>
          <p:cNvPr id="28" name="Text Placeholder 1">
            <a:extLst>
              <a:ext uri="{FF2B5EF4-FFF2-40B4-BE49-F238E27FC236}">
                <a16:creationId xmlns:a16="http://schemas.microsoft.com/office/drawing/2014/main" id="{6D566B50-30B2-FB33-FCB6-4AC7939189D1}"/>
              </a:ext>
            </a:extLst>
          </p:cNvPr>
          <p:cNvSpPr txBox="1">
            <a:spLocks/>
          </p:cNvSpPr>
          <p:nvPr/>
        </p:nvSpPr>
        <p:spPr>
          <a:xfrm>
            <a:off x="8270171" y="6077913"/>
            <a:ext cx="3777915" cy="900395"/>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900" dirty="0"/>
              <a:t>Seed quality ↔ Yield: Positive correlation, showing genetic potential matters.</a:t>
            </a:r>
          </a:p>
          <a:p>
            <a:r>
              <a:rPr lang="en-IN" sz="900" dirty="0"/>
              <a:t>Farm size ↔ Cost: Very strong positive correlation (~0.96). Larger farms naturally incur higher costs.</a:t>
            </a:r>
          </a:p>
        </p:txBody>
      </p:sp>
      <p:pic>
        <p:nvPicPr>
          <p:cNvPr id="30" name="Picture 29">
            <a:extLst>
              <a:ext uri="{FF2B5EF4-FFF2-40B4-BE49-F238E27FC236}">
                <a16:creationId xmlns:a16="http://schemas.microsoft.com/office/drawing/2014/main" id="{C94F2401-86AD-DBBF-A670-8E4D51D82C62}"/>
              </a:ext>
            </a:extLst>
          </p:cNvPr>
          <p:cNvPicPr>
            <a:picLocks noChangeAspect="1"/>
          </p:cNvPicPr>
          <p:nvPr/>
        </p:nvPicPr>
        <p:blipFill>
          <a:blip r:embed="rId8"/>
          <a:stretch>
            <a:fillRect/>
          </a:stretch>
        </p:blipFill>
        <p:spPr>
          <a:xfrm>
            <a:off x="8270171" y="3272702"/>
            <a:ext cx="3296045" cy="2840494"/>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3">
                                            <p:txEl>
                                              <p:pRg st="0" end="0"/>
                                            </p:txEl>
                                          </p:spTgt>
                                        </p:tgtEl>
                                        <p:attrNameLst>
                                          <p:attrName>style.visibility</p:attrName>
                                        </p:attrNameLst>
                                      </p:cBhvr>
                                      <p:to>
                                        <p:strVal val="visible"/>
                                      </p:to>
                                    </p:set>
                                    <p:animEffect transition="in" filter="fade">
                                      <p:cBhvr>
                                        <p:cTn id="49" dur="1000"/>
                                        <p:tgtEl>
                                          <p:spTgt spid="13">
                                            <p:txEl>
                                              <p:pRg st="0" end="0"/>
                                            </p:txEl>
                                          </p:spTgt>
                                        </p:tgtEl>
                                      </p:cBhvr>
                                    </p:animEffect>
                                    <p:anim calcmode="lin" valueType="num">
                                      <p:cBhvr>
                                        <p:cTn id="50"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51" dur="1000" fill="hold"/>
                                        <p:tgtEl>
                                          <p:spTgt spid="1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8">
                                            <p:txEl>
                                              <p:pRg st="0" end="0"/>
                                            </p:txEl>
                                          </p:spTgt>
                                        </p:tgtEl>
                                        <p:attrNameLst>
                                          <p:attrName>style.visibility</p:attrName>
                                        </p:attrNameLst>
                                      </p:cBhvr>
                                      <p:to>
                                        <p:strVal val="visible"/>
                                      </p:to>
                                    </p:set>
                                    <p:animEffect transition="in" filter="fade">
                                      <p:cBhvr>
                                        <p:cTn id="56" dur="1000"/>
                                        <p:tgtEl>
                                          <p:spTgt spid="18">
                                            <p:txEl>
                                              <p:pRg st="0" end="0"/>
                                            </p:txEl>
                                          </p:spTgt>
                                        </p:tgtEl>
                                      </p:cBhvr>
                                    </p:animEffect>
                                    <p:anim calcmode="lin" valueType="num">
                                      <p:cBhvr>
                                        <p:cTn id="57" dur="1000" fill="hold"/>
                                        <p:tgtEl>
                                          <p:spTgt spid="18">
                                            <p:txEl>
                                              <p:pRg st="0" end="0"/>
                                            </p:txEl>
                                          </p:spTgt>
                                        </p:tgtEl>
                                        <p:attrNameLst>
                                          <p:attrName>ppt_x</p:attrName>
                                        </p:attrNameLst>
                                      </p:cBhvr>
                                      <p:tavLst>
                                        <p:tav tm="0">
                                          <p:val>
                                            <p:strVal val="#ppt_x"/>
                                          </p:val>
                                        </p:tav>
                                        <p:tav tm="100000">
                                          <p:val>
                                            <p:strVal val="#ppt_x"/>
                                          </p:val>
                                        </p:tav>
                                      </p:tavLst>
                                    </p:anim>
                                    <p:anim calcmode="lin" valueType="num">
                                      <p:cBhvr>
                                        <p:cTn id="58" dur="1000" fill="hold"/>
                                        <p:tgtEl>
                                          <p:spTgt spid="1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8">
                                            <p:txEl>
                                              <p:pRg st="1" end="1"/>
                                            </p:txEl>
                                          </p:spTgt>
                                        </p:tgtEl>
                                        <p:attrNameLst>
                                          <p:attrName>style.visibility</p:attrName>
                                        </p:attrNameLst>
                                      </p:cBhvr>
                                      <p:to>
                                        <p:strVal val="visible"/>
                                      </p:to>
                                    </p:set>
                                    <p:animEffect transition="in" filter="fade">
                                      <p:cBhvr>
                                        <p:cTn id="63" dur="1000"/>
                                        <p:tgtEl>
                                          <p:spTgt spid="18">
                                            <p:txEl>
                                              <p:pRg st="1" end="1"/>
                                            </p:txEl>
                                          </p:spTgt>
                                        </p:tgtEl>
                                      </p:cBhvr>
                                    </p:animEffect>
                                    <p:anim calcmode="lin" valueType="num">
                                      <p:cBhvr>
                                        <p:cTn id="64" dur="1000" fill="hold"/>
                                        <p:tgtEl>
                                          <p:spTgt spid="18">
                                            <p:txEl>
                                              <p:pRg st="1" end="1"/>
                                            </p:txEl>
                                          </p:spTgt>
                                        </p:tgtEl>
                                        <p:attrNameLst>
                                          <p:attrName>ppt_x</p:attrName>
                                        </p:attrNameLst>
                                      </p:cBhvr>
                                      <p:tavLst>
                                        <p:tav tm="0">
                                          <p:val>
                                            <p:strVal val="#ppt_x"/>
                                          </p:val>
                                        </p:tav>
                                        <p:tav tm="100000">
                                          <p:val>
                                            <p:strVal val="#ppt_x"/>
                                          </p:val>
                                        </p:tav>
                                      </p:tavLst>
                                    </p:anim>
                                    <p:anim calcmode="lin" valueType="num">
                                      <p:cBhvr>
                                        <p:cTn id="65" dur="1000" fill="hold"/>
                                        <p:tgtEl>
                                          <p:spTgt spid="1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21">
                                            <p:txEl>
                                              <p:pRg st="0" end="0"/>
                                            </p:txEl>
                                          </p:spTgt>
                                        </p:tgtEl>
                                        <p:attrNameLst>
                                          <p:attrName>style.visibility</p:attrName>
                                        </p:attrNameLst>
                                      </p:cBhvr>
                                      <p:to>
                                        <p:strVal val="visible"/>
                                      </p:to>
                                    </p:set>
                                    <p:animEffect transition="in" filter="fade">
                                      <p:cBhvr>
                                        <p:cTn id="70" dur="1000"/>
                                        <p:tgtEl>
                                          <p:spTgt spid="21">
                                            <p:txEl>
                                              <p:pRg st="0" end="0"/>
                                            </p:txEl>
                                          </p:spTgt>
                                        </p:tgtEl>
                                      </p:cBhvr>
                                    </p:animEffect>
                                    <p:anim calcmode="lin" valueType="num">
                                      <p:cBhvr>
                                        <p:cTn id="71" dur="1000" fill="hold"/>
                                        <p:tgtEl>
                                          <p:spTgt spid="21">
                                            <p:txEl>
                                              <p:pRg st="0" end="0"/>
                                            </p:txEl>
                                          </p:spTgt>
                                        </p:tgtEl>
                                        <p:attrNameLst>
                                          <p:attrName>ppt_x</p:attrName>
                                        </p:attrNameLst>
                                      </p:cBhvr>
                                      <p:tavLst>
                                        <p:tav tm="0">
                                          <p:val>
                                            <p:strVal val="#ppt_x"/>
                                          </p:val>
                                        </p:tav>
                                        <p:tav tm="100000">
                                          <p:val>
                                            <p:strVal val="#ppt_x"/>
                                          </p:val>
                                        </p:tav>
                                      </p:tavLst>
                                    </p:anim>
                                    <p:anim calcmode="lin" valueType="num">
                                      <p:cBhvr>
                                        <p:cTn id="72" dur="1000" fill="hold"/>
                                        <p:tgtEl>
                                          <p:spTgt spid="2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21">
                                            <p:txEl>
                                              <p:pRg st="1" end="1"/>
                                            </p:txEl>
                                          </p:spTgt>
                                        </p:tgtEl>
                                        <p:attrNameLst>
                                          <p:attrName>style.visibility</p:attrName>
                                        </p:attrNameLst>
                                      </p:cBhvr>
                                      <p:to>
                                        <p:strVal val="visible"/>
                                      </p:to>
                                    </p:set>
                                    <p:animEffect transition="in" filter="fade">
                                      <p:cBhvr>
                                        <p:cTn id="77" dur="1000"/>
                                        <p:tgtEl>
                                          <p:spTgt spid="21">
                                            <p:txEl>
                                              <p:pRg st="1" end="1"/>
                                            </p:txEl>
                                          </p:spTgt>
                                        </p:tgtEl>
                                      </p:cBhvr>
                                    </p:animEffect>
                                    <p:anim calcmode="lin" valueType="num">
                                      <p:cBhvr>
                                        <p:cTn id="78" dur="1000" fill="hold"/>
                                        <p:tgtEl>
                                          <p:spTgt spid="21">
                                            <p:txEl>
                                              <p:pRg st="1" end="1"/>
                                            </p:txEl>
                                          </p:spTgt>
                                        </p:tgtEl>
                                        <p:attrNameLst>
                                          <p:attrName>ppt_x</p:attrName>
                                        </p:attrNameLst>
                                      </p:cBhvr>
                                      <p:tavLst>
                                        <p:tav tm="0">
                                          <p:val>
                                            <p:strVal val="#ppt_x"/>
                                          </p:val>
                                        </p:tav>
                                        <p:tav tm="100000">
                                          <p:val>
                                            <p:strVal val="#ppt_x"/>
                                          </p:val>
                                        </p:tav>
                                      </p:tavLst>
                                    </p:anim>
                                    <p:anim calcmode="lin" valueType="num">
                                      <p:cBhvr>
                                        <p:cTn id="79" dur="1000" fill="hold"/>
                                        <p:tgtEl>
                                          <p:spTgt spid="2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27">
                                            <p:txEl>
                                              <p:pRg st="0" end="0"/>
                                            </p:txEl>
                                          </p:spTgt>
                                        </p:tgtEl>
                                        <p:attrNameLst>
                                          <p:attrName>style.visibility</p:attrName>
                                        </p:attrNameLst>
                                      </p:cBhvr>
                                      <p:to>
                                        <p:strVal val="visible"/>
                                      </p:to>
                                    </p:set>
                                    <p:animEffect transition="in" filter="fade">
                                      <p:cBhvr>
                                        <p:cTn id="84" dur="1000"/>
                                        <p:tgtEl>
                                          <p:spTgt spid="27">
                                            <p:txEl>
                                              <p:pRg st="0" end="0"/>
                                            </p:txEl>
                                          </p:spTgt>
                                        </p:tgtEl>
                                      </p:cBhvr>
                                    </p:animEffect>
                                    <p:anim calcmode="lin" valueType="num">
                                      <p:cBhvr>
                                        <p:cTn id="85" dur="1000" fill="hold"/>
                                        <p:tgtEl>
                                          <p:spTgt spid="27">
                                            <p:txEl>
                                              <p:pRg st="0" end="0"/>
                                            </p:txEl>
                                          </p:spTgt>
                                        </p:tgtEl>
                                        <p:attrNameLst>
                                          <p:attrName>ppt_x</p:attrName>
                                        </p:attrNameLst>
                                      </p:cBhvr>
                                      <p:tavLst>
                                        <p:tav tm="0">
                                          <p:val>
                                            <p:strVal val="#ppt_x"/>
                                          </p:val>
                                        </p:tav>
                                        <p:tav tm="100000">
                                          <p:val>
                                            <p:strVal val="#ppt_x"/>
                                          </p:val>
                                        </p:tav>
                                      </p:tavLst>
                                    </p:anim>
                                    <p:anim calcmode="lin" valueType="num">
                                      <p:cBhvr>
                                        <p:cTn id="86" dur="1000" fill="hold"/>
                                        <p:tgtEl>
                                          <p:spTgt spid="2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28">
                                            <p:txEl>
                                              <p:pRg st="0" end="0"/>
                                            </p:txEl>
                                          </p:spTgt>
                                        </p:tgtEl>
                                        <p:attrNameLst>
                                          <p:attrName>style.visibility</p:attrName>
                                        </p:attrNameLst>
                                      </p:cBhvr>
                                      <p:to>
                                        <p:strVal val="visible"/>
                                      </p:to>
                                    </p:set>
                                    <p:animEffect transition="in" filter="fade">
                                      <p:cBhvr>
                                        <p:cTn id="91" dur="1000"/>
                                        <p:tgtEl>
                                          <p:spTgt spid="28">
                                            <p:txEl>
                                              <p:pRg st="0" end="0"/>
                                            </p:txEl>
                                          </p:spTgt>
                                        </p:tgtEl>
                                      </p:cBhvr>
                                    </p:animEffect>
                                    <p:anim calcmode="lin" valueType="num">
                                      <p:cBhvr>
                                        <p:cTn id="92" dur="1000" fill="hold"/>
                                        <p:tgtEl>
                                          <p:spTgt spid="28">
                                            <p:txEl>
                                              <p:pRg st="0" end="0"/>
                                            </p:txEl>
                                          </p:spTgt>
                                        </p:tgtEl>
                                        <p:attrNameLst>
                                          <p:attrName>ppt_x</p:attrName>
                                        </p:attrNameLst>
                                      </p:cBhvr>
                                      <p:tavLst>
                                        <p:tav tm="0">
                                          <p:val>
                                            <p:strVal val="#ppt_x"/>
                                          </p:val>
                                        </p:tav>
                                        <p:tav tm="100000">
                                          <p:val>
                                            <p:strVal val="#ppt_x"/>
                                          </p:val>
                                        </p:tav>
                                      </p:tavLst>
                                    </p:anim>
                                    <p:anim calcmode="lin" valueType="num">
                                      <p:cBhvr>
                                        <p:cTn id="93" dur="1000" fill="hold"/>
                                        <p:tgtEl>
                                          <p:spTgt spid="2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8">
                                            <p:txEl>
                                              <p:pRg st="1" end="1"/>
                                            </p:txEl>
                                          </p:spTgt>
                                        </p:tgtEl>
                                        <p:attrNameLst>
                                          <p:attrName>style.visibility</p:attrName>
                                        </p:attrNameLst>
                                      </p:cBhvr>
                                      <p:to>
                                        <p:strVal val="visible"/>
                                      </p:to>
                                    </p:set>
                                    <p:animEffect transition="in" filter="fade">
                                      <p:cBhvr>
                                        <p:cTn id="98" dur="1000"/>
                                        <p:tgtEl>
                                          <p:spTgt spid="28">
                                            <p:txEl>
                                              <p:pRg st="1" end="1"/>
                                            </p:txEl>
                                          </p:spTgt>
                                        </p:tgtEl>
                                      </p:cBhvr>
                                    </p:animEffect>
                                    <p:anim calcmode="lin" valueType="num">
                                      <p:cBhvr>
                                        <p:cTn id="99" dur="1000" fill="hold"/>
                                        <p:tgtEl>
                                          <p:spTgt spid="28">
                                            <p:txEl>
                                              <p:pRg st="1" end="1"/>
                                            </p:txEl>
                                          </p:spTgt>
                                        </p:tgtEl>
                                        <p:attrNameLst>
                                          <p:attrName>ppt_x</p:attrName>
                                        </p:attrNameLst>
                                      </p:cBhvr>
                                      <p:tavLst>
                                        <p:tav tm="0">
                                          <p:val>
                                            <p:strVal val="#ppt_x"/>
                                          </p:val>
                                        </p:tav>
                                        <p:tav tm="100000">
                                          <p:val>
                                            <p:strVal val="#ppt_x"/>
                                          </p:val>
                                        </p:tav>
                                      </p:tavLst>
                                    </p:anim>
                                    <p:anim calcmode="lin" valueType="num">
                                      <p:cBhvr>
                                        <p:cTn id="100" dur="1000" fill="hold"/>
                                        <p:tgtEl>
                                          <p:spTgt spid="2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13" grpId="0" build="p"/>
      <p:bldP spid="18" grpId="0" build="p"/>
      <p:bldP spid="21" grpId="0" build="p"/>
      <p:bldP spid="27" grpId="0" build="p"/>
      <p:bldP spid="28"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233119" y="88435"/>
            <a:ext cx="2051201" cy="712292"/>
          </a:xfrm>
        </p:spPr>
        <p:txBody>
          <a:bodyPr>
            <a:normAutofit/>
          </a:bodyPr>
          <a:lstStyle/>
          <a:p>
            <a:r>
              <a:rPr lang="en-GB" sz="3600" dirty="0">
                <a:latin typeface="Cambria" panose="02040503050406030204" pitchFamily="18" charset="0"/>
                <a:ea typeface="Cambria" panose="02040503050406030204" pitchFamily="18" charset="0"/>
              </a:rPr>
              <a:t>RESULTS </a:t>
            </a:r>
            <a:endParaRPr lang="en-IN" sz="3600" dirty="0">
              <a:latin typeface="Cambria" panose="02040503050406030204" pitchFamily="18" charset="0"/>
              <a:ea typeface="Cambria" panose="02040503050406030204" pitchFamily="18" charset="0"/>
            </a:endParaRPr>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233119" y="3411580"/>
            <a:ext cx="3028799" cy="471547"/>
          </a:xfrm>
        </p:spPr>
        <p:txBody>
          <a:bodyPr>
            <a:normAutofit fontScale="40000" lnSpcReduction="20000"/>
          </a:bodyPr>
          <a:lstStyle/>
          <a:p>
            <a:pPr marL="0" indent="0">
              <a:buNone/>
            </a:pPr>
            <a:r>
              <a:rPr lang="en-IN" dirty="0">
                <a:latin typeface="Cambria" panose="02040503050406030204" pitchFamily="18" charset="0"/>
                <a:ea typeface="Cambria" panose="02040503050406030204" pitchFamily="18" charset="0"/>
              </a:rPr>
              <a:t>Interpretation: Simply adding more fertilizer (NPK) doesn’t guarantee higher yield. Other factors—rainfall, soil pH, crop type, farming practices—play a much bigger role.</a:t>
            </a:r>
            <a:endParaRPr lang="en-IN" sz="900" dirty="0">
              <a:latin typeface="Cambria" panose="02040503050406030204" pitchFamily="18" charset="0"/>
              <a:ea typeface="Cambria" panose="02040503050406030204" pitchFamily="18" charset="0"/>
            </a:endParaRPr>
          </a:p>
        </p:txBody>
      </p:sp>
      <p:pic>
        <p:nvPicPr>
          <p:cNvPr id="3" name="Picture 2">
            <a:extLst>
              <a:ext uri="{FF2B5EF4-FFF2-40B4-BE49-F238E27FC236}">
                <a16:creationId xmlns:a16="http://schemas.microsoft.com/office/drawing/2014/main" id="{FB2E1C0C-B0C4-25D1-A5C7-3A7E0AFD0CAE}"/>
              </a:ext>
            </a:extLst>
          </p:cNvPr>
          <p:cNvPicPr>
            <a:picLocks noChangeAspect="1"/>
          </p:cNvPicPr>
          <p:nvPr/>
        </p:nvPicPr>
        <p:blipFill>
          <a:blip r:embed="rId3"/>
          <a:stretch>
            <a:fillRect/>
          </a:stretch>
        </p:blipFill>
        <p:spPr>
          <a:xfrm>
            <a:off x="233119" y="721576"/>
            <a:ext cx="3028799" cy="2612689"/>
          </a:xfrm>
          <a:prstGeom prst="rect">
            <a:avLst/>
          </a:prstGeom>
        </p:spPr>
      </p:pic>
      <p:pic>
        <p:nvPicPr>
          <p:cNvPr id="9" name="Picture 8">
            <a:extLst>
              <a:ext uri="{FF2B5EF4-FFF2-40B4-BE49-F238E27FC236}">
                <a16:creationId xmlns:a16="http://schemas.microsoft.com/office/drawing/2014/main" id="{1DA7671A-AC37-FCA0-3517-D3F16812738A}"/>
              </a:ext>
            </a:extLst>
          </p:cNvPr>
          <p:cNvPicPr>
            <a:picLocks noChangeAspect="1"/>
          </p:cNvPicPr>
          <p:nvPr/>
        </p:nvPicPr>
        <p:blipFill>
          <a:blip r:embed="rId4"/>
          <a:stretch>
            <a:fillRect/>
          </a:stretch>
        </p:blipFill>
        <p:spPr>
          <a:xfrm>
            <a:off x="3582017" y="721576"/>
            <a:ext cx="3429563" cy="2061436"/>
          </a:xfrm>
          <a:prstGeom prst="rect">
            <a:avLst/>
          </a:prstGeom>
        </p:spPr>
      </p:pic>
      <p:sp>
        <p:nvSpPr>
          <p:cNvPr id="11" name="Text Placeholder 1">
            <a:extLst>
              <a:ext uri="{FF2B5EF4-FFF2-40B4-BE49-F238E27FC236}">
                <a16:creationId xmlns:a16="http://schemas.microsoft.com/office/drawing/2014/main" id="{E8297DD3-F869-3F9B-AD29-00AEBD4273B1}"/>
              </a:ext>
            </a:extLst>
          </p:cNvPr>
          <p:cNvSpPr txBox="1">
            <a:spLocks/>
          </p:cNvSpPr>
          <p:nvPr/>
        </p:nvSpPr>
        <p:spPr>
          <a:xfrm>
            <a:off x="3664543" y="2807499"/>
            <a:ext cx="3429563" cy="1208161"/>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IN" sz="800" dirty="0">
                <a:latin typeface="Cambria" panose="02040503050406030204" pitchFamily="18" charset="0"/>
                <a:ea typeface="Cambria" panose="02040503050406030204" pitchFamily="18" charset="0"/>
              </a:rPr>
              <a:t>Rainfed → Highest efficiency (natural rainfall, no irrigation cost).</a:t>
            </a:r>
          </a:p>
          <a:p>
            <a:pPr marL="0" indent="0">
              <a:buNone/>
            </a:pPr>
            <a:r>
              <a:rPr lang="en-IN" sz="800" dirty="0">
                <a:latin typeface="Cambria" panose="02040503050406030204" pitchFamily="18" charset="0"/>
                <a:ea typeface="Cambria" panose="02040503050406030204" pitchFamily="18" charset="0"/>
              </a:rPr>
              <a:t>Drip → Next best, very efficient because water is delivered directly to plant roots.</a:t>
            </a:r>
          </a:p>
          <a:p>
            <a:pPr marL="0" indent="0">
              <a:buNone/>
            </a:pPr>
            <a:r>
              <a:rPr lang="en-IN" sz="800" dirty="0">
                <a:latin typeface="Cambria" panose="02040503050406030204" pitchFamily="18" charset="0"/>
                <a:ea typeface="Cambria" panose="02040503050406030204" pitchFamily="18" charset="0"/>
              </a:rPr>
              <a:t>Sprinkler → Moderate efficiency, but some water loss through evaporation.</a:t>
            </a:r>
          </a:p>
          <a:p>
            <a:pPr marL="0" indent="0">
              <a:buNone/>
            </a:pPr>
            <a:r>
              <a:rPr lang="en-IN" sz="800" dirty="0">
                <a:latin typeface="Cambria" panose="02040503050406030204" pitchFamily="18" charset="0"/>
                <a:ea typeface="Cambria" panose="02040503050406030204" pitchFamily="18" charset="0"/>
              </a:rPr>
              <a:t>Flood → Lowest efficiency, with large losses due to runoff and deep percolation</a:t>
            </a:r>
          </a:p>
        </p:txBody>
      </p:sp>
      <p:pic>
        <p:nvPicPr>
          <p:cNvPr id="13" name="Picture 12">
            <a:extLst>
              <a:ext uri="{FF2B5EF4-FFF2-40B4-BE49-F238E27FC236}">
                <a16:creationId xmlns:a16="http://schemas.microsoft.com/office/drawing/2014/main" id="{7CAD2B1B-B916-95B1-241D-58383EEE4C9E}"/>
              </a:ext>
            </a:extLst>
          </p:cNvPr>
          <p:cNvPicPr>
            <a:picLocks noChangeAspect="1"/>
          </p:cNvPicPr>
          <p:nvPr/>
        </p:nvPicPr>
        <p:blipFill>
          <a:blip r:embed="rId5"/>
          <a:stretch>
            <a:fillRect/>
          </a:stretch>
        </p:blipFill>
        <p:spPr>
          <a:xfrm>
            <a:off x="100709" y="3834422"/>
            <a:ext cx="3293617" cy="2164259"/>
          </a:xfrm>
          <a:prstGeom prst="rect">
            <a:avLst/>
          </a:prstGeom>
        </p:spPr>
      </p:pic>
      <p:sp>
        <p:nvSpPr>
          <p:cNvPr id="14" name="Text Placeholder 1">
            <a:extLst>
              <a:ext uri="{FF2B5EF4-FFF2-40B4-BE49-F238E27FC236}">
                <a16:creationId xmlns:a16="http://schemas.microsoft.com/office/drawing/2014/main" id="{DBB18463-B203-93FA-2612-F4F3C71D7884}"/>
              </a:ext>
            </a:extLst>
          </p:cNvPr>
          <p:cNvSpPr txBox="1">
            <a:spLocks/>
          </p:cNvSpPr>
          <p:nvPr/>
        </p:nvSpPr>
        <p:spPr>
          <a:xfrm>
            <a:off x="52583" y="6001954"/>
            <a:ext cx="3529434" cy="1132972"/>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IN" sz="800" dirty="0">
                <a:latin typeface="Cambria" panose="02040503050406030204" pitchFamily="18" charset="0"/>
                <a:ea typeface="Cambria" panose="02040503050406030204" pitchFamily="18" charset="0"/>
              </a:rPr>
              <a:t>Rabi season dominates water usage — around 41,000 m³, making it the most irrigation-intensive season.</a:t>
            </a:r>
          </a:p>
          <a:p>
            <a:pPr marL="0" indent="0">
              <a:buNone/>
            </a:pPr>
            <a:r>
              <a:rPr lang="en-IN" sz="800" dirty="0">
                <a:latin typeface="Cambria" panose="02040503050406030204" pitchFamily="18" charset="0"/>
                <a:ea typeface="Cambria" panose="02040503050406030204" pitchFamily="18" charset="0"/>
              </a:rPr>
              <a:t>Kharif season follows with ~36,000 m³, but rainfall during monsoon reduces irrigation needs compared to Rabi. Zaid season uses the least (~34,000 m³), reflecting its short crop cycle and lower water demand</a:t>
            </a:r>
          </a:p>
        </p:txBody>
      </p:sp>
      <p:pic>
        <p:nvPicPr>
          <p:cNvPr id="16" name="Picture 15">
            <a:extLst>
              <a:ext uri="{FF2B5EF4-FFF2-40B4-BE49-F238E27FC236}">
                <a16:creationId xmlns:a16="http://schemas.microsoft.com/office/drawing/2014/main" id="{741BF2A4-790C-5EC3-3F2B-EF8A9EEACE75}"/>
              </a:ext>
            </a:extLst>
          </p:cNvPr>
          <p:cNvPicPr>
            <a:picLocks noChangeAspect="1"/>
          </p:cNvPicPr>
          <p:nvPr/>
        </p:nvPicPr>
        <p:blipFill>
          <a:blip r:embed="rId6"/>
          <a:stretch>
            <a:fillRect/>
          </a:stretch>
        </p:blipFill>
        <p:spPr>
          <a:xfrm>
            <a:off x="7331679" y="721576"/>
            <a:ext cx="3833626" cy="3068875"/>
          </a:xfrm>
          <a:prstGeom prst="rect">
            <a:avLst/>
          </a:prstGeom>
        </p:spPr>
      </p:pic>
      <p:sp>
        <p:nvSpPr>
          <p:cNvPr id="17" name="Text Placeholder 1">
            <a:extLst>
              <a:ext uri="{FF2B5EF4-FFF2-40B4-BE49-F238E27FC236}">
                <a16:creationId xmlns:a16="http://schemas.microsoft.com/office/drawing/2014/main" id="{8C76031B-1DB8-DA11-D61E-1EE3BB8A145D}"/>
              </a:ext>
            </a:extLst>
          </p:cNvPr>
          <p:cNvSpPr txBox="1">
            <a:spLocks/>
          </p:cNvSpPr>
          <p:nvPr/>
        </p:nvSpPr>
        <p:spPr>
          <a:xfrm>
            <a:off x="7414205" y="3834422"/>
            <a:ext cx="3833626" cy="1208161"/>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800" dirty="0">
                <a:latin typeface="Cambria" panose="02040503050406030204" pitchFamily="18" charset="0"/>
                <a:ea typeface="Cambria" panose="02040503050406030204" pitchFamily="18" charset="0"/>
              </a:rPr>
              <a:t>Positive correlation: As humidity increases, disease/pest risk also rises. This makes sense biologically—fungal pathogens, bacteria, and many pests thrive in moist environments.</a:t>
            </a:r>
          </a:p>
          <a:p>
            <a:r>
              <a:rPr lang="en-IN" sz="800" dirty="0">
                <a:latin typeface="Cambria" panose="02040503050406030204" pitchFamily="18" charset="0"/>
                <a:ea typeface="Cambria" panose="02040503050406030204" pitchFamily="18" charset="0"/>
              </a:rPr>
              <a:t>Dense clustering: Most points fall along an upward trend, suggesting this relationship is consistent across different conditions.</a:t>
            </a:r>
          </a:p>
          <a:p>
            <a:r>
              <a:rPr lang="en-IN" sz="800" dirty="0">
                <a:latin typeface="Cambria" panose="02040503050406030204" pitchFamily="18" charset="0"/>
                <a:ea typeface="Cambria" panose="02040503050406030204" pitchFamily="18" charset="0"/>
              </a:rPr>
              <a:t>Risk threshold: Once humidity exceeds ~70%, risk levels tend to be significantly higher, indicating a critical zone where crops become more vulnerable</a:t>
            </a:r>
          </a:p>
        </p:txBody>
      </p:sp>
      <p:pic>
        <p:nvPicPr>
          <p:cNvPr id="19" name="Picture 18">
            <a:extLst>
              <a:ext uri="{FF2B5EF4-FFF2-40B4-BE49-F238E27FC236}">
                <a16:creationId xmlns:a16="http://schemas.microsoft.com/office/drawing/2014/main" id="{0136AB37-1979-61D2-805C-056D3428BFA5}"/>
              </a:ext>
            </a:extLst>
          </p:cNvPr>
          <p:cNvPicPr>
            <a:picLocks noChangeAspect="1"/>
          </p:cNvPicPr>
          <p:nvPr/>
        </p:nvPicPr>
        <p:blipFill>
          <a:blip r:embed="rId7"/>
          <a:stretch>
            <a:fillRect/>
          </a:stretch>
        </p:blipFill>
        <p:spPr>
          <a:xfrm>
            <a:off x="3735143" y="4040147"/>
            <a:ext cx="3429563" cy="2431773"/>
          </a:xfrm>
          <a:prstGeom prst="rect">
            <a:avLst/>
          </a:prstGeom>
        </p:spPr>
      </p:pic>
      <p:sp>
        <p:nvSpPr>
          <p:cNvPr id="20" name="Text Placeholder 1">
            <a:extLst>
              <a:ext uri="{FF2B5EF4-FFF2-40B4-BE49-F238E27FC236}">
                <a16:creationId xmlns:a16="http://schemas.microsoft.com/office/drawing/2014/main" id="{881A724D-1DE1-074E-B6AF-043371211A89}"/>
              </a:ext>
            </a:extLst>
          </p:cNvPr>
          <p:cNvSpPr txBox="1">
            <a:spLocks/>
          </p:cNvSpPr>
          <p:nvPr/>
        </p:nvSpPr>
        <p:spPr>
          <a:xfrm>
            <a:off x="3498053" y="6471920"/>
            <a:ext cx="3833626" cy="516384"/>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800" dirty="0">
                <a:latin typeface="Cambria" panose="02040503050406030204" pitchFamily="18" charset="0"/>
                <a:ea typeface="Cambria" panose="02040503050406030204" pitchFamily="18" charset="0"/>
              </a:rPr>
              <a:t>Triangular pattern: Suggests that only within the optimal pH range do crops reach their maximum potential. Outside this range, yields taper off.</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1">
                                            <p:txEl>
                                              <p:pRg st="0" end="0"/>
                                            </p:txEl>
                                          </p:spTgt>
                                        </p:tgtEl>
                                        <p:attrNameLst>
                                          <p:attrName>style.visibility</p:attrName>
                                        </p:attrNameLst>
                                      </p:cBhvr>
                                      <p:to>
                                        <p:strVal val="visible"/>
                                      </p:to>
                                    </p:set>
                                    <p:animEffect transition="in" filter="fade">
                                      <p:cBhvr>
                                        <p:cTn id="35" dur="1000"/>
                                        <p:tgtEl>
                                          <p:spTgt spid="11">
                                            <p:txEl>
                                              <p:pRg st="0" end="0"/>
                                            </p:txEl>
                                          </p:spTgt>
                                        </p:tgtEl>
                                      </p:cBhvr>
                                    </p:animEffect>
                                    <p:anim calcmode="lin" valueType="num">
                                      <p:cBhvr>
                                        <p:cTn id="36"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1">
                                            <p:txEl>
                                              <p:pRg st="1" end="1"/>
                                            </p:txEl>
                                          </p:spTgt>
                                        </p:tgtEl>
                                        <p:attrNameLst>
                                          <p:attrName>style.visibility</p:attrName>
                                        </p:attrNameLst>
                                      </p:cBhvr>
                                      <p:to>
                                        <p:strVal val="visible"/>
                                      </p:to>
                                    </p:set>
                                    <p:animEffect transition="in" filter="fade">
                                      <p:cBhvr>
                                        <p:cTn id="42" dur="1000"/>
                                        <p:tgtEl>
                                          <p:spTgt spid="11">
                                            <p:txEl>
                                              <p:pRg st="1" end="1"/>
                                            </p:txEl>
                                          </p:spTgt>
                                        </p:tgtEl>
                                      </p:cBhvr>
                                    </p:animEffect>
                                    <p:anim calcmode="lin" valueType="num">
                                      <p:cBhvr>
                                        <p:cTn id="43" dur="1000" fill="hold"/>
                                        <p:tgtEl>
                                          <p:spTgt spid="11">
                                            <p:txEl>
                                              <p:pRg st="1" end="1"/>
                                            </p:txEl>
                                          </p:spTgt>
                                        </p:tgtEl>
                                        <p:attrNameLst>
                                          <p:attrName>ppt_x</p:attrName>
                                        </p:attrNameLst>
                                      </p:cBhvr>
                                      <p:tavLst>
                                        <p:tav tm="0">
                                          <p:val>
                                            <p:strVal val="#ppt_x"/>
                                          </p:val>
                                        </p:tav>
                                        <p:tav tm="100000">
                                          <p:val>
                                            <p:strVal val="#ppt_x"/>
                                          </p:val>
                                        </p:tav>
                                      </p:tavLst>
                                    </p:anim>
                                    <p:anim calcmode="lin" valueType="num">
                                      <p:cBhvr>
                                        <p:cTn id="44" dur="1000" fill="hold"/>
                                        <p:tgtEl>
                                          <p:spTgt spid="1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1">
                                            <p:txEl>
                                              <p:pRg st="2" end="2"/>
                                            </p:txEl>
                                          </p:spTgt>
                                        </p:tgtEl>
                                        <p:attrNameLst>
                                          <p:attrName>style.visibility</p:attrName>
                                        </p:attrNameLst>
                                      </p:cBhvr>
                                      <p:to>
                                        <p:strVal val="visible"/>
                                      </p:to>
                                    </p:set>
                                    <p:animEffect transition="in" filter="fade">
                                      <p:cBhvr>
                                        <p:cTn id="49" dur="1000"/>
                                        <p:tgtEl>
                                          <p:spTgt spid="11">
                                            <p:txEl>
                                              <p:pRg st="2" end="2"/>
                                            </p:txEl>
                                          </p:spTgt>
                                        </p:tgtEl>
                                      </p:cBhvr>
                                    </p:animEffect>
                                    <p:anim calcmode="lin" valueType="num">
                                      <p:cBhvr>
                                        <p:cTn id="50" dur="1000" fill="hold"/>
                                        <p:tgtEl>
                                          <p:spTgt spid="11">
                                            <p:txEl>
                                              <p:pRg st="2" end="2"/>
                                            </p:txEl>
                                          </p:spTgt>
                                        </p:tgtEl>
                                        <p:attrNameLst>
                                          <p:attrName>ppt_x</p:attrName>
                                        </p:attrNameLst>
                                      </p:cBhvr>
                                      <p:tavLst>
                                        <p:tav tm="0">
                                          <p:val>
                                            <p:strVal val="#ppt_x"/>
                                          </p:val>
                                        </p:tav>
                                        <p:tav tm="100000">
                                          <p:val>
                                            <p:strVal val="#ppt_x"/>
                                          </p:val>
                                        </p:tav>
                                      </p:tavLst>
                                    </p:anim>
                                    <p:anim calcmode="lin" valueType="num">
                                      <p:cBhvr>
                                        <p:cTn id="51" dur="1000" fill="hold"/>
                                        <p:tgtEl>
                                          <p:spTgt spid="11">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1">
                                            <p:txEl>
                                              <p:pRg st="3" end="3"/>
                                            </p:txEl>
                                          </p:spTgt>
                                        </p:tgtEl>
                                        <p:attrNameLst>
                                          <p:attrName>style.visibility</p:attrName>
                                        </p:attrNameLst>
                                      </p:cBhvr>
                                      <p:to>
                                        <p:strVal val="visible"/>
                                      </p:to>
                                    </p:set>
                                    <p:animEffect transition="in" filter="fade">
                                      <p:cBhvr>
                                        <p:cTn id="56" dur="1000"/>
                                        <p:tgtEl>
                                          <p:spTgt spid="11">
                                            <p:txEl>
                                              <p:pRg st="3" end="3"/>
                                            </p:txEl>
                                          </p:spTgt>
                                        </p:tgtEl>
                                      </p:cBhvr>
                                    </p:animEffect>
                                    <p:anim calcmode="lin" valueType="num">
                                      <p:cBhvr>
                                        <p:cTn id="57" dur="1000" fill="hold"/>
                                        <p:tgtEl>
                                          <p:spTgt spid="11">
                                            <p:txEl>
                                              <p:pRg st="3" end="3"/>
                                            </p:txEl>
                                          </p:spTgt>
                                        </p:tgtEl>
                                        <p:attrNameLst>
                                          <p:attrName>ppt_x</p:attrName>
                                        </p:attrNameLst>
                                      </p:cBhvr>
                                      <p:tavLst>
                                        <p:tav tm="0">
                                          <p:val>
                                            <p:strVal val="#ppt_x"/>
                                          </p:val>
                                        </p:tav>
                                        <p:tav tm="100000">
                                          <p:val>
                                            <p:strVal val="#ppt_x"/>
                                          </p:val>
                                        </p:tav>
                                      </p:tavLst>
                                    </p:anim>
                                    <p:anim calcmode="lin" valueType="num">
                                      <p:cBhvr>
                                        <p:cTn id="58" dur="1000" fill="hold"/>
                                        <p:tgtEl>
                                          <p:spTgt spid="1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4">
                                            <p:txEl>
                                              <p:pRg st="0" end="0"/>
                                            </p:txEl>
                                          </p:spTgt>
                                        </p:tgtEl>
                                        <p:attrNameLst>
                                          <p:attrName>style.visibility</p:attrName>
                                        </p:attrNameLst>
                                      </p:cBhvr>
                                      <p:to>
                                        <p:strVal val="visible"/>
                                      </p:to>
                                    </p:set>
                                    <p:animEffect transition="in" filter="fade">
                                      <p:cBhvr>
                                        <p:cTn id="63" dur="1000"/>
                                        <p:tgtEl>
                                          <p:spTgt spid="14">
                                            <p:txEl>
                                              <p:pRg st="0" end="0"/>
                                            </p:txEl>
                                          </p:spTgt>
                                        </p:tgtEl>
                                      </p:cBhvr>
                                    </p:animEffect>
                                    <p:anim calcmode="lin" valueType="num">
                                      <p:cBhvr>
                                        <p:cTn id="64" dur="1000" fill="hold"/>
                                        <p:tgtEl>
                                          <p:spTgt spid="14">
                                            <p:txEl>
                                              <p:pRg st="0" end="0"/>
                                            </p:txEl>
                                          </p:spTgt>
                                        </p:tgtEl>
                                        <p:attrNameLst>
                                          <p:attrName>ppt_x</p:attrName>
                                        </p:attrNameLst>
                                      </p:cBhvr>
                                      <p:tavLst>
                                        <p:tav tm="0">
                                          <p:val>
                                            <p:strVal val="#ppt_x"/>
                                          </p:val>
                                        </p:tav>
                                        <p:tav tm="100000">
                                          <p:val>
                                            <p:strVal val="#ppt_x"/>
                                          </p:val>
                                        </p:tav>
                                      </p:tavLst>
                                    </p:anim>
                                    <p:anim calcmode="lin" valueType="num">
                                      <p:cBhvr>
                                        <p:cTn id="65" dur="1000" fill="hold"/>
                                        <p:tgtEl>
                                          <p:spTgt spid="1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4">
                                            <p:txEl>
                                              <p:pRg st="1" end="1"/>
                                            </p:txEl>
                                          </p:spTgt>
                                        </p:tgtEl>
                                        <p:attrNameLst>
                                          <p:attrName>style.visibility</p:attrName>
                                        </p:attrNameLst>
                                      </p:cBhvr>
                                      <p:to>
                                        <p:strVal val="visible"/>
                                      </p:to>
                                    </p:set>
                                    <p:animEffect transition="in" filter="fade">
                                      <p:cBhvr>
                                        <p:cTn id="70" dur="1000"/>
                                        <p:tgtEl>
                                          <p:spTgt spid="14">
                                            <p:txEl>
                                              <p:pRg st="1" end="1"/>
                                            </p:txEl>
                                          </p:spTgt>
                                        </p:tgtEl>
                                      </p:cBhvr>
                                    </p:animEffect>
                                    <p:anim calcmode="lin" valueType="num">
                                      <p:cBhvr>
                                        <p:cTn id="71" dur="1000" fill="hold"/>
                                        <p:tgtEl>
                                          <p:spTgt spid="14">
                                            <p:txEl>
                                              <p:pRg st="1" end="1"/>
                                            </p:txEl>
                                          </p:spTgt>
                                        </p:tgtEl>
                                        <p:attrNameLst>
                                          <p:attrName>ppt_x</p:attrName>
                                        </p:attrNameLst>
                                      </p:cBhvr>
                                      <p:tavLst>
                                        <p:tav tm="0">
                                          <p:val>
                                            <p:strVal val="#ppt_x"/>
                                          </p:val>
                                        </p:tav>
                                        <p:tav tm="100000">
                                          <p:val>
                                            <p:strVal val="#ppt_x"/>
                                          </p:val>
                                        </p:tav>
                                      </p:tavLst>
                                    </p:anim>
                                    <p:anim calcmode="lin" valueType="num">
                                      <p:cBhvr>
                                        <p:cTn id="72" dur="1000" fill="hold"/>
                                        <p:tgtEl>
                                          <p:spTgt spid="1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7">
                                            <p:txEl>
                                              <p:pRg st="0" end="0"/>
                                            </p:txEl>
                                          </p:spTgt>
                                        </p:tgtEl>
                                        <p:attrNameLst>
                                          <p:attrName>style.visibility</p:attrName>
                                        </p:attrNameLst>
                                      </p:cBhvr>
                                      <p:to>
                                        <p:strVal val="visible"/>
                                      </p:to>
                                    </p:set>
                                    <p:animEffect transition="in" filter="fade">
                                      <p:cBhvr>
                                        <p:cTn id="77" dur="1000"/>
                                        <p:tgtEl>
                                          <p:spTgt spid="17">
                                            <p:txEl>
                                              <p:pRg st="0" end="0"/>
                                            </p:txEl>
                                          </p:spTgt>
                                        </p:tgtEl>
                                      </p:cBhvr>
                                    </p:animEffect>
                                    <p:anim calcmode="lin" valueType="num">
                                      <p:cBhvr>
                                        <p:cTn id="78" dur="1000" fill="hold"/>
                                        <p:tgtEl>
                                          <p:spTgt spid="17">
                                            <p:txEl>
                                              <p:pRg st="0" end="0"/>
                                            </p:txEl>
                                          </p:spTgt>
                                        </p:tgtEl>
                                        <p:attrNameLst>
                                          <p:attrName>ppt_x</p:attrName>
                                        </p:attrNameLst>
                                      </p:cBhvr>
                                      <p:tavLst>
                                        <p:tav tm="0">
                                          <p:val>
                                            <p:strVal val="#ppt_x"/>
                                          </p:val>
                                        </p:tav>
                                        <p:tav tm="100000">
                                          <p:val>
                                            <p:strVal val="#ppt_x"/>
                                          </p:val>
                                        </p:tav>
                                      </p:tavLst>
                                    </p:anim>
                                    <p:anim calcmode="lin" valueType="num">
                                      <p:cBhvr>
                                        <p:cTn id="79" dur="1000" fill="hold"/>
                                        <p:tgtEl>
                                          <p:spTgt spid="1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7">
                                            <p:txEl>
                                              <p:pRg st="1" end="1"/>
                                            </p:txEl>
                                          </p:spTgt>
                                        </p:tgtEl>
                                        <p:attrNameLst>
                                          <p:attrName>style.visibility</p:attrName>
                                        </p:attrNameLst>
                                      </p:cBhvr>
                                      <p:to>
                                        <p:strVal val="visible"/>
                                      </p:to>
                                    </p:set>
                                    <p:animEffect transition="in" filter="fade">
                                      <p:cBhvr>
                                        <p:cTn id="84" dur="1000"/>
                                        <p:tgtEl>
                                          <p:spTgt spid="17">
                                            <p:txEl>
                                              <p:pRg st="1" end="1"/>
                                            </p:txEl>
                                          </p:spTgt>
                                        </p:tgtEl>
                                      </p:cBhvr>
                                    </p:animEffect>
                                    <p:anim calcmode="lin" valueType="num">
                                      <p:cBhvr>
                                        <p:cTn id="85" dur="1000" fill="hold"/>
                                        <p:tgtEl>
                                          <p:spTgt spid="17">
                                            <p:txEl>
                                              <p:pRg st="1" end="1"/>
                                            </p:txEl>
                                          </p:spTgt>
                                        </p:tgtEl>
                                        <p:attrNameLst>
                                          <p:attrName>ppt_x</p:attrName>
                                        </p:attrNameLst>
                                      </p:cBhvr>
                                      <p:tavLst>
                                        <p:tav tm="0">
                                          <p:val>
                                            <p:strVal val="#ppt_x"/>
                                          </p:val>
                                        </p:tav>
                                        <p:tav tm="100000">
                                          <p:val>
                                            <p:strVal val="#ppt_x"/>
                                          </p:val>
                                        </p:tav>
                                      </p:tavLst>
                                    </p:anim>
                                    <p:anim calcmode="lin" valueType="num">
                                      <p:cBhvr>
                                        <p:cTn id="86" dur="1000" fill="hold"/>
                                        <p:tgtEl>
                                          <p:spTgt spid="1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7">
                                            <p:txEl>
                                              <p:pRg st="2" end="2"/>
                                            </p:txEl>
                                          </p:spTgt>
                                        </p:tgtEl>
                                        <p:attrNameLst>
                                          <p:attrName>style.visibility</p:attrName>
                                        </p:attrNameLst>
                                      </p:cBhvr>
                                      <p:to>
                                        <p:strVal val="visible"/>
                                      </p:to>
                                    </p:set>
                                    <p:animEffect transition="in" filter="fade">
                                      <p:cBhvr>
                                        <p:cTn id="91" dur="1000"/>
                                        <p:tgtEl>
                                          <p:spTgt spid="17">
                                            <p:txEl>
                                              <p:pRg st="2" end="2"/>
                                            </p:txEl>
                                          </p:spTgt>
                                        </p:tgtEl>
                                      </p:cBhvr>
                                    </p:animEffect>
                                    <p:anim calcmode="lin" valueType="num">
                                      <p:cBhvr>
                                        <p:cTn id="92" dur="1000" fill="hold"/>
                                        <p:tgtEl>
                                          <p:spTgt spid="17">
                                            <p:txEl>
                                              <p:pRg st="2" end="2"/>
                                            </p:txEl>
                                          </p:spTgt>
                                        </p:tgtEl>
                                        <p:attrNameLst>
                                          <p:attrName>ppt_x</p:attrName>
                                        </p:attrNameLst>
                                      </p:cBhvr>
                                      <p:tavLst>
                                        <p:tav tm="0">
                                          <p:val>
                                            <p:strVal val="#ppt_x"/>
                                          </p:val>
                                        </p:tav>
                                        <p:tav tm="100000">
                                          <p:val>
                                            <p:strVal val="#ppt_x"/>
                                          </p:val>
                                        </p:tav>
                                      </p:tavLst>
                                    </p:anim>
                                    <p:anim calcmode="lin" valueType="num">
                                      <p:cBhvr>
                                        <p:cTn id="93" dur="1000" fill="hold"/>
                                        <p:tgtEl>
                                          <p:spTgt spid="1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0">
                                            <p:txEl>
                                              <p:pRg st="0" end="0"/>
                                            </p:txEl>
                                          </p:spTgt>
                                        </p:tgtEl>
                                        <p:attrNameLst>
                                          <p:attrName>style.visibility</p:attrName>
                                        </p:attrNameLst>
                                      </p:cBhvr>
                                      <p:to>
                                        <p:strVal val="visible"/>
                                      </p:to>
                                    </p:set>
                                    <p:animEffect transition="in" filter="fade">
                                      <p:cBhvr>
                                        <p:cTn id="98" dur="1000"/>
                                        <p:tgtEl>
                                          <p:spTgt spid="20">
                                            <p:txEl>
                                              <p:pRg st="0" end="0"/>
                                            </p:txEl>
                                          </p:spTgt>
                                        </p:tgtEl>
                                      </p:cBhvr>
                                    </p:animEffect>
                                    <p:anim calcmode="lin" valueType="num">
                                      <p:cBhvr>
                                        <p:cTn id="99" dur="1000" fill="hold"/>
                                        <p:tgtEl>
                                          <p:spTgt spid="20">
                                            <p:txEl>
                                              <p:pRg st="0" end="0"/>
                                            </p:txEl>
                                          </p:spTgt>
                                        </p:tgtEl>
                                        <p:attrNameLst>
                                          <p:attrName>ppt_x</p:attrName>
                                        </p:attrNameLst>
                                      </p:cBhvr>
                                      <p:tavLst>
                                        <p:tav tm="0">
                                          <p:val>
                                            <p:strVal val="#ppt_x"/>
                                          </p:val>
                                        </p:tav>
                                        <p:tav tm="100000">
                                          <p:val>
                                            <p:strVal val="#ppt_x"/>
                                          </p:val>
                                        </p:tav>
                                      </p:tavLst>
                                    </p:anim>
                                    <p:anim calcmode="lin" valueType="num">
                                      <p:cBhvr>
                                        <p:cTn id="100" dur="1000" fill="hold"/>
                                        <p:tgtEl>
                                          <p:spTgt spid="2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11" grpId="0" build="p"/>
      <p:bldP spid="14" grpId="0" build="p"/>
      <p:bldP spid="17" grpId="0" build="p"/>
      <p:bldP spid="2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latin typeface="Cambria" panose="02040503050406030204" pitchFamily="18" charset="0"/>
                <a:ea typeface="Cambria" panose="02040503050406030204" pitchFamily="18" charset="0"/>
              </a:rP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Rectangle 5">
            <a:extLst>
              <a:ext uri="{FF2B5EF4-FFF2-40B4-BE49-F238E27FC236}">
                <a16:creationId xmlns:a16="http://schemas.microsoft.com/office/drawing/2014/main" id="{BD236AC5-55AE-7A68-DD78-EBA1891FF8E9}"/>
              </a:ext>
            </a:extLst>
          </p:cNvPr>
          <p:cNvSpPr/>
          <p:nvPr/>
        </p:nvSpPr>
        <p:spPr>
          <a:xfrm>
            <a:off x="6472989" y="1379621"/>
            <a:ext cx="721895" cy="112294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65BC7B2-F38F-B1E0-A1A2-7A62A29F4F3D}"/>
              </a:ext>
            </a:extLst>
          </p:cNvPr>
          <p:cNvSpPr txBox="1"/>
          <p:nvPr/>
        </p:nvSpPr>
        <p:spPr>
          <a:xfrm>
            <a:off x="661753" y="1403684"/>
            <a:ext cx="7865706" cy="4524315"/>
          </a:xfrm>
          <a:prstGeom prst="rect">
            <a:avLst/>
          </a:prstGeom>
          <a:noFill/>
          <a:ln>
            <a:solidFill>
              <a:schemeClr val="bg1">
                <a:lumMod val="85000"/>
              </a:schemeClr>
            </a:solidFill>
          </a:ln>
        </p:spPr>
        <p:txBody>
          <a:bodyPr wrap="square" rtlCol="0">
            <a:spAutoFit/>
          </a:bodyPr>
          <a:lstStyle/>
          <a:p>
            <a:pPr marL="285750"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Predictive Analytics</a:t>
            </a:r>
          </a:p>
          <a:p>
            <a:pPr marL="742950" lvl="1" indent="-285750">
              <a:buFont typeface="Arial" panose="020B0604020202020204" pitchFamily="34" charset="0"/>
              <a:buChar char="•"/>
            </a:pPr>
            <a:r>
              <a:rPr lang="en-IN" dirty="0">
                <a:latin typeface="Cambria" panose="02040503050406030204" pitchFamily="18" charset="0"/>
                <a:ea typeface="Cambria" panose="02040503050406030204" pitchFamily="18" charset="0"/>
              </a:rPr>
              <a:t>Use Machine Learning models to predict crop yield based on rainfall, temperature, and soil conditions.</a:t>
            </a:r>
          </a:p>
          <a:p>
            <a:pPr marL="285750"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Crop Recommendation System</a:t>
            </a:r>
          </a:p>
          <a:p>
            <a:pPr marL="742950" lvl="1" indent="-285750">
              <a:buFont typeface="Arial" panose="020B0604020202020204" pitchFamily="34" charset="0"/>
              <a:buChar char="•"/>
            </a:pPr>
            <a:r>
              <a:rPr lang="en-IN" dirty="0">
                <a:latin typeface="Cambria" panose="02040503050406030204" pitchFamily="18" charset="0"/>
                <a:ea typeface="Cambria" panose="02040503050406030204" pitchFamily="18" charset="0"/>
              </a:rPr>
              <a:t>Develop a system that suggests the most suitable crop for a region based on climate and soil characteristics.</a:t>
            </a:r>
          </a:p>
          <a:p>
            <a:pPr marL="285750"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Disease and Pest Detection</a:t>
            </a:r>
          </a:p>
          <a:p>
            <a:pPr marL="742950" lvl="1" indent="-285750">
              <a:buFont typeface="Arial" panose="020B0604020202020204" pitchFamily="34" charset="0"/>
              <a:buChar char="•"/>
            </a:pPr>
            <a:r>
              <a:rPr lang="en-IN" dirty="0">
                <a:latin typeface="Cambria" panose="02040503050406030204" pitchFamily="18" charset="0"/>
                <a:ea typeface="Cambria" panose="02040503050406030204" pitchFamily="18" charset="0"/>
              </a:rPr>
              <a:t>Use AI and image processing techniques to identify crop diseases and pests at an early stage.</a:t>
            </a:r>
          </a:p>
          <a:p>
            <a:pPr marL="285750"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Smart Farming Solutions</a:t>
            </a:r>
          </a:p>
          <a:p>
            <a:pPr marL="742950" lvl="1" indent="-285750">
              <a:buFont typeface="Arial" panose="020B0604020202020204" pitchFamily="34" charset="0"/>
              <a:buChar char="•"/>
            </a:pPr>
            <a:r>
              <a:rPr lang="en-IN" dirty="0">
                <a:latin typeface="Cambria" panose="02040503050406030204" pitchFamily="18" charset="0"/>
                <a:ea typeface="Cambria" panose="02040503050406030204" pitchFamily="18" charset="0"/>
              </a:rPr>
              <a:t>Combine AI, IoT, and data analytics to optimize irrigation, fertilizer usage, and resource management.</a:t>
            </a:r>
          </a:p>
          <a:p>
            <a:pPr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Satellite and Remote Sensing Integration</a:t>
            </a:r>
          </a:p>
          <a:p>
            <a:pPr marL="628650" lvl="2"/>
            <a:r>
              <a:rPr lang="en-IN" dirty="0">
                <a:latin typeface="Cambria" panose="02040503050406030204" pitchFamily="18" charset="0"/>
                <a:ea typeface="Cambria" panose="02040503050406030204" pitchFamily="18" charset="0"/>
              </a:rPr>
              <a:t>Utilize satellite imagery to monitor crop growth, land usage, and agricultural productivity.</a:t>
            </a:r>
          </a:p>
          <a:p>
            <a:pPr lvl="0"/>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514968"/>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Rectangle 5">
            <a:extLst>
              <a:ext uri="{FF2B5EF4-FFF2-40B4-BE49-F238E27FC236}">
                <a16:creationId xmlns:a16="http://schemas.microsoft.com/office/drawing/2014/main" id="{7518184F-EEAD-B731-CADA-82090C9FAE92}"/>
              </a:ext>
            </a:extLst>
          </p:cNvPr>
          <p:cNvSpPr/>
          <p:nvPr/>
        </p:nvSpPr>
        <p:spPr>
          <a:xfrm>
            <a:off x="6408821" y="1435768"/>
            <a:ext cx="978568" cy="7860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D7C651B7-1F52-DD51-5736-C292EEBCC144}"/>
              </a:ext>
            </a:extLst>
          </p:cNvPr>
          <p:cNvSpPr txBox="1"/>
          <p:nvPr/>
        </p:nvSpPr>
        <p:spPr>
          <a:xfrm>
            <a:off x="583819" y="1808936"/>
            <a:ext cx="9651043" cy="400110"/>
          </a:xfrm>
          <a:prstGeom prst="rect">
            <a:avLst/>
          </a:prstGeom>
          <a:noFill/>
        </p:spPr>
        <p:txBody>
          <a:bodyPr wrap="square" rtlCol="0">
            <a:spAutoFit/>
          </a:bodyPr>
          <a:lstStyle/>
          <a:p>
            <a:r>
              <a:rPr lang="en-IN" sz="2000" dirty="0">
                <a:solidFill>
                  <a:schemeClr val="accent1">
                    <a:lumMod val="75000"/>
                  </a:schemeClr>
                </a:solidFill>
                <a:hlinkClick r:id="rId3">
                  <a:extLst>
                    <a:ext uri="{A12FA001-AC4F-418D-AE19-62706E023703}">
                      <ahyp:hlinkClr xmlns:ahyp="http://schemas.microsoft.com/office/drawing/2018/hyperlinkcolor" val="tx"/>
                    </a:ext>
                  </a:extLst>
                </a:hlinkClick>
              </a:rPr>
              <a:t>https://github.com/SamiyaP/Seasonal-Agricultural-Performance-Analysis.git</a:t>
            </a:r>
            <a:endParaRPr lang="en-IN" sz="2000" dirty="0">
              <a:solidFill>
                <a:schemeClr val="accent1">
                  <a:lumMod val="75000"/>
                </a:schemeClr>
              </a:solidFill>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latin typeface="Cambria" panose="02040503050406030204" pitchFamily="18" charset="0"/>
                <a:ea typeface="Cambria" panose="02040503050406030204" pitchFamily="18" charset="0"/>
              </a:rPr>
              <a:t>VOIS Course Completion Certificate </a:t>
            </a:r>
            <a:br>
              <a:rPr lang="en-IN" sz="3200" dirty="0">
                <a:latin typeface="Cambria" panose="02040503050406030204" pitchFamily="18" charset="0"/>
                <a:ea typeface="Cambria" panose="02040503050406030204" pitchFamily="18" charset="0"/>
              </a:rPr>
            </a:br>
            <a:r>
              <a:rPr lang="en-IN" sz="3200" dirty="0">
                <a:latin typeface="Cambria" panose="02040503050406030204" pitchFamily="18" charset="0"/>
                <a:ea typeface="Cambria" panose="02040503050406030204" pitchFamily="18" charset="0"/>
              </a:rPr>
              <a:t>Course name -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6B0F1DE0-1081-63A9-1E09-F269BCF88587}"/>
              </a:ext>
            </a:extLst>
          </p:cNvPr>
          <p:cNvPicPr>
            <a:picLocks noChangeAspect="1"/>
          </p:cNvPicPr>
          <p:nvPr/>
        </p:nvPicPr>
        <p:blipFill>
          <a:blip r:embed="rId3"/>
          <a:stretch>
            <a:fillRect/>
          </a:stretch>
        </p:blipFill>
        <p:spPr>
          <a:xfrm>
            <a:off x="686604" y="1470157"/>
            <a:ext cx="7318179" cy="5194803"/>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A7C6F5-7735-B620-2E4E-73C1E2A3533D}"/>
              </a:ext>
            </a:extLst>
          </p:cNvPr>
          <p:cNvSpPr/>
          <p:nvPr/>
        </p:nvSpPr>
        <p:spPr>
          <a:xfrm>
            <a:off x="1" y="2911642"/>
            <a:ext cx="12192000" cy="994611"/>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97560" y="3000201"/>
            <a:ext cx="11340000" cy="700114"/>
          </a:xfrm>
          <a:prstGeom prst="rect">
            <a:avLst/>
          </a:prstGeom>
        </p:spPr>
        <p:txBody>
          <a:bodyPr anchor="ctr">
            <a:noAutofit/>
          </a:bodyPr>
          <a:lstStyle/>
          <a:p>
            <a:pPr algn="ctr"/>
            <a:r>
              <a:rPr lang="en-US" sz="4800" b="1" dirty="0">
                <a:solidFill>
                  <a:schemeClr val="bg1"/>
                </a:solidFill>
                <a:latin typeface="Cambria" panose="02040503050406030204" pitchFamily="18" charset="0"/>
                <a:ea typeface="Cambria" panose="02040503050406030204" pitchFamily="18" charset="0"/>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778</TotalTime>
  <Words>835</Words>
  <Application>Microsoft Office PowerPoint</Application>
  <PresentationFormat>Widescreen</PresentationFormat>
  <Paragraphs>58</Paragraphs>
  <Slides>11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Calibri</vt:lpstr>
      <vt:lpstr>Cambria</vt:lpstr>
      <vt:lpstr>Trebuchet MS</vt:lpstr>
      <vt:lpstr>Wingdings</vt:lpstr>
      <vt:lpstr>Wingdings 3</vt:lpstr>
      <vt:lpstr>Facet</vt:lpstr>
      <vt:lpstr>Seasonal Agricultural Performance Analysis</vt:lpstr>
      <vt:lpstr>PROBLEM  STATEMENT</vt:lpstr>
      <vt:lpstr>Project Description   </vt:lpstr>
      <vt:lpstr>WHO ARE THE END USERS?</vt:lpstr>
      <vt:lpstr>Technology Used</vt:lpstr>
      <vt:lpstr>RESULTS </vt:lpstr>
      <vt:lpstr>RESULTS </vt:lpstr>
      <vt:lpstr>Future scope</vt:lpstr>
      <vt:lpstr>GitHub Link</vt:lpstr>
      <vt:lpstr>VOIS Course Completion Certificate  Course name -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9660psr@gmail.com</cp:lastModifiedBy>
  <cp:revision>102</cp:revision>
  <dcterms:created xsi:type="dcterms:W3CDTF">2021-07-11T13:13:15Z</dcterms:created>
  <dcterms:modified xsi:type="dcterms:W3CDTF">2026-09-09T06:25:12Z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