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amiyaP/Seasonal-Agricultural-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B63AE25-1FC2-2AEC-B6EE-39FB8A753635}"/>
              </a:ext>
            </a:extLst>
          </p:cNvPr>
          <p:cNvSpPr/>
          <p:nvPr/>
        </p:nvSpPr>
        <p:spPr>
          <a:xfrm>
            <a:off x="3304674" y="1114926"/>
            <a:ext cx="2398294" cy="8179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ACECD54-FDB0-47EF-3DAD-B8C16C56DD52}"/>
              </a:ext>
            </a:extLst>
          </p:cNvPr>
          <p:cNvSpPr/>
          <p:nvPr/>
        </p:nvSpPr>
        <p:spPr>
          <a:xfrm>
            <a:off x="918410" y="1887955"/>
            <a:ext cx="8935452" cy="1023687"/>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30231" y="3429000"/>
            <a:ext cx="7121263" cy="861497"/>
          </a:xfrm>
          <a:ln>
            <a:solidFill>
              <a:schemeClr val="bg1">
                <a:lumMod val="65000"/>
              </a:schemeClr>
            </a:solidFill>
          </a:ln>
        </p:spPr>
        <p:txBody>
          <a:bodyPr vert="horz" lIns="91440" tIns="45720" rIns="91440" bIns="45720" rtlCol="0" anchor="t">
            <a:normAutofit fontScale="85000" lnSpcReduction="10000"/>
          </a:bodyPr>
          <a:lstStyle/>
          <a:p>
            <a:pPr algn="ctr"/>
            <a:r>
              <a:rPr lang="en-IN" sz="2800" dirty="0">
                <a:solidFill>
                  <a:schemeClr val="tx1"/>
                </a:solidFill>
                <a:latin typeface="Cambria" panose="02040503050406030204" pitchFamily="18" charset="0"/>
                <a:ea typeface="Cambria" panose="02040503050406030204" pitchFamily="18" charset="0"/>
              </a:rPr>
              <a:t>Samiya </a:t>
            </a:r>
            <a:r>
              <a:rPr lang="en-IN" sz="2800" dirty="0" err="1">
                <a:solidFill>
                  <a:schemeClr val="tx1"/>
                </a:solidFill>
                <a:latin typeface="Cambria" panose="02040503050406030204" pitchFamily="18" charset="0"/>
                <a:ea typeface="Cambria" panose="02040503050406030204" pitchFamily="18" charset="0"/>
              </a:rPr>
              <a:t>Rahiman</a:t>
            </a:r>
            <a:r>
              <a:rPr lang="en-IN" sz="2800" dirty="0">
                <a:solidFill>
                  <a:schemeClr val="tx1"/>
                </a:solidFill>
                <a:latin typeface="Cambria" panose="02040503050406030204" pitchFamily="18" charset="0"/>
                <a:ea typeface="Cambria" panose="02040503050406030204" pitchFamily="18" charset="0"/>
              </a:rPr>
              <a:t> Patel</a:t>
            </a:r>
          </a:p>
          <a:p>
            <a:pPr algn="ctr"/>
            <a:r>
              <a:rPr lang="en-US" b="0" dirty="0">
                <a:solidFill>
                  <a:schemeClr val="tx1"/>
                </a:solidFill>
                <a:latin typeface="Cambria" panose="02040503050406030204" pitchFamily="18" charset="0"/>
                <a:ea typeface="Cambria" panose="02040503050406030204" pitchFamily="18" charset="0"/>
              </a:rPr>
              <a:t>Vivekanand Education Society's College of Arts, Science &amp; Commerce</a:t>
            </a:r>
            <a:endParaRPr lang="en-IN" b="0" dirty="0">
              <a:solidFill>
                <a:schemeClr val="tx1"/>
              </a:solidFill>
              <a:latin typeface="Cambria" panose="02040503050406030204" pitchFamily="18" charset="0"/>
              <a:ea typeface="Cambria" panose="020405030504060302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036370" y="2037181"/>
            <a:ext cx="8676590" cy="740612"/>
          </a:xfrm>
          <a:solidFill>
            <a:srgbClr val="0070C0"/>
          </a:solidFill>
        </p:spPr>
        <p:txBody>
          <a:bodyPr>
            <a:noAutofit/>
          </a:bodyPr>
          <a:lstStyle/>
          <a:p>
            <a:pPr algn="ctr"/>
            <a:r>
              <a:rPr lang="en-GB" sz="3200" b="1" dirty="0">
                <a:solidFill>
                  <a:schemeClr val="bg1"/>
                </a:solidFill>
                <a:latin typeface="Cambria" panose="02040503050406030204" pitchFamily="18" charset="0"/>
                <a:ea typeface="Cambria" panose="02040503050406030204" pitchFamily="18" charset="0"/>
              </a:rPr>
              <a:t>Seasonal Agricultural Performance Analysis</a:t>
            </a:r>
            <a:endParaRPr lang="en-IN" sz="3200" b="1" dirty="0">
              <a:solidFill>
                <a:schemeClr val="bg1"/>
              </a:solidFill>
              <a:latin typeface="Cambria" panose="02040503050406030204" pitchFamily="18" charset="0"/>
              <a:ea typeface="Cambria" panose="020405030504060302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781299" y="4607800"/>
            <a:ext cx="5843337"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AICTE STU ID : STU6a63ae83c95261784917635</a:t>
            </a:r>
          </a:p>
        </p:txBody>
      </p:sp>
      <p:sp>
        <p:nvSpPr>
          <p:cNvPr id="8" name="Rectangle 7">
            <a:extLst>
              <a:ext uri="{FF2B5EF4-FFF2-40B4-BE49-F238E27FC236}">
                <a16:creationId xmlns:a16="http://schemas.microsoft.com/office/drawing/2014/main" id="{22ED8C1D-3A17-C8BA-228D-1B39071CDFB8}"/>
              </a:ext>
            </a:extLst>
          </p:cNvPr>
          <p:cNvSpPr/>
          <p:nvPr/>
        </p:nvSpPr>
        <p:spPr>
          <a:xfrm>
            <a:off x="3465095" y="5125453"/>
            <a:ext cx="1788694"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1947746"/>
            <a:ext cx="6431280" cy="3607987"/>
          </a:xfrm>
        </p:spPr>
        <p:txBody>
          <a:bodyPr vert="horz" lIns="91440" tIns="45720" rIns="91440" bIns="45720" rtlCol="0" anchor="t">
            <a:normAutofit fontScale="77500" lnSpcReduction="20000"/>
          </a:bodyPr>
          <a:lstStyle/>
          <a:p>
            <a:pPr>
              <a:lnSpc>
                <a:spcPct val="100000"/>
              </a:lnSpc>
            </a:pPr>
            <a:r>
              <a:rPr lang="en-IN" sz="2800" dirty="0">
                <a:latin typeface="Cambria" panose="02040503050406030204" pitchFamily="18" charset="0"/>
                <a:ea typeface="Cambria" panose="02040503050406030204" pitchFamily="18" charset="0"/>
              </a:rPr>
              <a:t>Agricultural productivity and profitability are influenced by multiple factors such as weather conditions, soil characteristics, irrigation methods, farm inputs, and crop selection. However, farmers often face challenges in identifying the key factors that maximize yield, optimize resource utilization, and improve profitability. This study aims to </a:t>
            </a:r>
            <a:r>
              <a:rPr lang="en-IN" sz="2800" dirty="0" err="1">
                <a:latin typeface="Cambria" panose="02040503050406030204" pitchFamily="18" charset="0"/>
                <a:ea typeface="Cambria" panose="02040503050406030204" pitchFamily="18" charset="0"/>
              </a:rPr>
              <a:t>analyze</a:t>
            </a:r>
            <a:r>
              <a:rPr lang="en-IN" sz="2800" dirty="0">
                <a:latin typeface="Cambria" panose="02040503050406030204" pitchFamily="18" charset="0"/>
                <a:ea typeface="Cambria" panose="02040503050406030204" pitchFamily="18" charset="0"/>
              </a:rPr>
              <a:t> seasonal agricultural performance data to identify the factors affecting crop production, water efficiency, and farm profitability, and to provide data-driven recommendations for sustainable agricultural practices.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Cambria" panose="02040503050406030204" pitchFamily="18" charset="0"/>
                <a:ea typeface="Cambria" panose="02040503050406030204" pitchFamily="18" charset="0"/>
              </a:rPr>
              <a:t>PROBLEM  STATEMENT</a:t>
            </a:r>
            <a:endParaRPr lang="en-IN"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8" y="692919"/>
            <a:ext cx="6276109" cy="830997"/>
          </a:xfrm>
        </p:spPr>
        <p:txBody>
          <a:bodyPr>
            <a:normAutofit fontScale="90000"/>
          </a:bodyPr>
          <a:lstStyle/>
          <a:p>
            <a:r>
              <a:rPr lang="en-GB" dirty="0">
                <a:latin typeface="Cambria" panose="02040503050406030204" pitchFamily="18" charset="0"/>
                <a:ea typeface="Cambria" panose="02040503050406030204" pitchFamily="18" charset="0"/>
              </a:rPr>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5C24B320-401E-D0AE-2547-CD3678F24766}"/>
              </a:ext>
            </a:extLst>
          </p:cNvPr>
          <p:cNvSpPr txBox="1"/>
          <p:nvPr/>
        </p:nvSpPr>
        <p:spPr>
          <a:xfrm>
            <a:off x="819726" y="1793030"/>
            <a:ext cx="5957454" cy="3816429"/>
          </a:xfrm>
          <a:prstGeom prst="rect">
            <a:avLst/>
          </a:prstGeom>
          <a:noFill/>
        </p:spPr>
        <p:txBody>
          <a:bodyPr wrap="square" rtlCol="0">
            <a:spAutoFit/>
          </a:bodyPr>
          <a:lstStyle/>
          <a:p>
            <a:pPr marL="342900" indent="-342900">
              <a:buFont typeface="Arial" panose="020B0604020202020204" pitchFamily="34" charset="0"/>
              <a:buChar char="•"/>
            </a:pPr>
            <a:r>
              <a:rPr lang="en-IN" sz="2200" dirty="0">
                <a:latin typeface="Cambria" panose="02040503050406030204" pitchFamily="18" charset="0"/>
                <a:ea typeface="Cambria" panose="02040503050406030204" pitchFamily="18" charset="0"/>
              </a:rPr>
              <a:t>This project </a:t>
            </a:r>
            <a:r>
              <a:rPr lang="en-IN" sz="2200" dirty="0" err="1">
                <a:latin typeface="Cambria" panose="02040503050406030204" pitchFamily="18" charset="0"/>
                <a:ea typeface="Cambria" panose="02040503050406030204" pitchFamily="18" charset="0"/>
              </a:rPr>
              <a:t>analyzes</a:t>
            </a:r>
            <a:r>
              <a:rPr lang="en-IN" sz="2200" dirty="0">
                <a:latin typeface="Cambria" panose="02040503050406030204" pitchFamily="18" charset="0"/>
                <a:ea typeface="Cambria" panose="02040503050406030204" pitchFamily="18" charset="0"/>
              </a:rPr>
              <a:t> seasonal agricultural performance using data on crops, weather conditions, soil properties, irrigation methods, and farm inputs. The objective is to identify factors affecting crop yield, production, profitability, and water efficiency. Through data analysis and visualization, the study provides insights that can help improve agricultural productivity, resource utilization, and sustainable farming practices.</a:t>
            </a:r>
            <a:br>
              <a:rPr lang="en-IN" sz="2200" dirty="0">
                <a:latin typeface="Cambria" panose="02040503050406030204" pitchFamily="18" charset="0"/>
                <a:ea typeface="Cambria" panose="02040503050406030204" pitchFamily="18" charset="0"/>
              </a:rPr>
            </a:b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03965" y="291081"/>
            <a:ext cx="10046070" cy="583216"/>
          </a:xfrm>
        </p:spPr>
        <p:txBody>
          <a:bodyPr>
            <a:normAutofit/>
          </a:bodyPr>
          <a:lstStyle/>
          <a:p>
            <a:r>
              <a:rPr lang="en-US" sz="3200" dirty="0">
                <a:latin typeface="Cambria" panose="02040503050406030204" pitchFamily="18" charset="0"/>
                <a:ea typeface="Cambria" panose="02040503050406030204" pitchFamily="18" charset="0"/>
              </a:rPr>
              <a:t>WHO ARE THE END USERS?</a:t>
            </a:r>
            <a:endParaRPr lang="en-IN" sz="2000"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488749" y="6457541"/>
            <a:ext cx="2181225" cy="400460"/>
          </a:xfrm>
          <a:prstGeom prst="rect">
            <a:avLst/>
          </a:prstGeom>
        </p:spPr>
      </p:pic>
      <p:sp>
        <p:nvSpPr>
          <p:cNvPr id="5" name="Rectangle 4">
            <a:extLst>
              <a:ext uri="{FF2B5EF4-FFF2-40B4-BE49-F238E27FC236}">
                <a16:creationId xmlns:a16="http://schemas.microsoft.com/office/drawing/2014/main" id="{317FAD17-52DC-48F3-6C6D-9A070FDD8565}"/>
              </a:ext>
            </a:extLst>
          </p:cNvPr>
          <p:cNvSpPr/>
          <p:nvPr/>
        </p:nvSpPr>
        <p:spPr>
          <a:xfrm>
            <a:off x="6513095" y="1556084"/>
            <a:ext cx="906379" cy="8983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FC566A8D-576D-1CCA-4DF6-033E6DFDEE81}"/>
              </a:ext>
            </a:extLst>
          </p:cNvPr>
          <p:cNvPicPr>
            <a:picLocks noChangeAspect="1"/>
          </p:cNvPicPr>
          <p:nvPr/>
        </p:nvPicPr>
        <p:blipFill>
          <a:blip r:embed="rId3"/>
          <a:srcRect t="11716" b="5370"/>
          <a:stretch>
            <a:fillRect/>
          </a:stretch>
        </p:blipFill>
        <p:spPr>
          <a:xfrm>
            <a:off x="1235242" y="1042739"/>
            <a:ext cx="7034464" cy="5694778"/>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4831266"/>
            <a:ext cx="1147011" cy="1998918"/>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latin typeface="Cambria" panose="02040503050406030204" pitchFamily="18" charset="0"/>
                <a:ea typeface="Cambria" panose="02040503050406030204" pitchFamily="18" charset="0"/>
              </a:rPr>
              <a:t>Python</a:t>
            </a:r>
            <a:r>
              <a:rPr lang="en-IN" dirty="0">
                <a:latin typeface="Cambria" panose="02040503050406030204" pitchFamily="18" charset="0"/>
                <a:ea typeface="Cambria" panose="02040503050406030204" pitchFamily="18" charset="0"/>
              </a:rPr>
              <a:t> – Data analysis and processing </a:t>
            </a:r>
          </a:p>
          <a:p>
            <a:pPr lvl="0"/>
            <a:r>
              <a:rPr lang="en-IN" b="1" dirty="0">
                <a:latin typeface="Cambria" panose="02040503050406030204" pitchFamily="18" charset="0"/>
                <a:ea typeface="Cambria" panose="02040503050406030204" pitchFamily="18" charset="0"/>
              </a:rPr>
              <a:t>Pandas</a:t>
            </a:r>
            <a:r>
              <a:rPr lang="en-IN" dirty="0">
                <a:latin typeface="Cambria" panose="02040503050406030204" pitchFamily="18" charset="0"/>
                <a:ea typeface="Cambria" panose="02040503050406030204" pitchFamily="18" charset="0"/>
              </a:rPr>
              <a:t> – Data cleaning, manipulation, and aggregation </a:t>
            </a:r>
          </a:p>
          <a:p>
            <a:pPr lvl="0"/>
            <a:r>
              <a:rPr lang="en-IN" b="1" dirty="0">
                <a:latin typeface="Cambria" panose="02040503050406030204" pitchFamily="18" charset="0"/>
                <a:ea typeface="Cambria" panose="02040503050406030204" pitchFamily="18" charset="0"/>
              </a:rPr>
              <a:t>NumPy</a:t>
            </a:r>
            <a:r>
              <a:rPr lang="en-IN" dirty="0">
                <a:latin typeface="Cambria" panose="02040503050406030204" pitchFamily="18" charset="0"/>
                <a:ea typeface="Cambria" panose="02040503050406030204" pitchFamily="18" charset="0"/>
              </a:rPr>
              <a:t> – Numerical calculations </a:t>
            </a:r>
          </a:p>
          <a:p>
            <a:pPr lvl="0"/>
            <a:r>
              <a:rPr lang="en-IN" b="1" dirty="0">
                <a:latin typeface="Cambria" panose="02040503050406030204" pitchFamily="18" charset="0"/>
                <a:ea typeface="Cambria" panose="02040503050406030204" pitchFamily="18" charset="0"/>
              </a:rPr>
              <a:t>Matplotlib</a:t>
            </a:r>
            <a:r>
              <a:rPr lang="en-IN" dirty="0">
                <a:latin typeface="Cambria" panose="02040503050406030204" pitchFamily="18" charset="0"/>
                <a:ea typeface="Cambria" panose="02040503050406030204" pitchFamily="18" charset="0"/>
              </a:rPr>
              <a:t> – Data visualization </a:t>
            </a:r>
          </a:p>
          <a:p>
            <a:pPr lvl="0"/>
            <a:r>
              <a:rPr lang="en-IN" b="1" dirty="0">
                <a:latin typeface="Cambria" panose="02040503050406030204" pitchFamily="18" charset="0"/>
                <a:ea typeface="Cambria" panose="02040503050406030204" pitchFamily="18" charset="0"/>
              </a:rPr>
              <a:t>Seaborn</a:t>
            </a:r>
            <a:r>
              <a:rPr lang="en-IN" dirty="0">
                <a:latin typeface="Cambria" panose="02040503050406030204" pitchFamily="18" charset="0"/>
                <a:ea typeface="Cambria" panose="02040503050406030204" pitchFamily="18" charset="0"/>
              </a:rPr>
              <a:t> – Statistical visualization and charts </a:t>
            </a:r>
          </a:p>
          <a:p>
            <a:pPr lvl="0"/>
            <a:r>
              <a:rPr lang="en-IN" b="1" dirty="0">
                <a:latin typeface="Cambria" panose="02040503050406030204" pitchFamily="18" charset="0"/>
                <a:ea typeface="Cambria" panose="02040503050406030204" pitchFamily="18" charset="0"/>
              </a:rPr>
              <a:t>Google </a:t>
            </a:r>
            <a:r>
              <a:rPr lang="en-IN" b="1" dirty="0" err="1">
                <a:latin typeface="Cambria" panose="02040503050406030204" pitchFamily="18" charset="0"/>
                <a:ea typeface="Cambria" panose="02040503050406030204" pitchFamily="18" charset="0"/>
              </a:rPr>
              <a:t>Colab</a:t>
            </a:r>
            <a:r>
              <a:rPr lang="en-IN" dirty="0">
                <a:latin typeface="Cambria" panose="02040503050406030204" pitchFamily="18" charset="0"/>
                <a:ea typeface="Cambria" panose="02040503050406030204" pitchFamily="18" charset="0"/>
              </a:rPr>
              <a:t> – Development and analysis environment</a:t>
            </a:r>
          </a:p>
          <a:p>
            <a:pPr lvl="1">
              <a:lnSpc>
                <a:spcPct val="150000"/>
              </a:lnSpc>
            </a:pPr>
            <a:endParaRPr lang="en-IN" dirty="0">
              <a:latin typeface="Cambria" panose="02040503050406030204" pitchFamily="18" charset="0"/>
              <a:ea typeface="Cambria" panose="020405030504060302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Cambria" panose="02040503050406030204" pitchFamily="18" charset="0"/>
                <a:ea typeface="Cambria" panose="020405030504060302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13429" y="4571"/>
            <a:ext cx="2498099" cy="495684"/>
          </a:xfrm>
        </p:spPr>
        <p:txBody>
          <a:bodyPr>
            <a:noAutofit/>
          </a:bodyPr>
          <a:lstStyle/>
          <a:p>
            <a:r>
              <a:rPr lang="en-GB" sz="3600" dirty="0">
                <a:latin typeface="Cambria" panose="02040503050406030204" pitchFamily="18" charset="0"/>
                <a:ea typeface="Cambria" panose="02040503050406030204" pitchFamily="18" charset="0"/>
              </a:rPr>
              <a:t>RESULTS</a:t>
            </a:r>
            <a:r>
              <a:rPr lang="en-GB" dirty="0">
                <a:latin typeface="Cambria" panose="02040503050406030204" pitchFamily="18" charset="0"/>
                <a:ea typeface="Cambria" panose="02040503050406030204" pitchFamily="18" charset="0"/>
              </a:rPr>
              <a:t> </a:t>
            </a:r>
            <a:endParaRPr lang="en-IN" dirty="0">
              <a:latin typeface="Cambria" panose="02040503050406030204" pitchFamily="18" charset="0"/>
              <a:ea typeface="Cambria" panose="020405030504060302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103804" y="2724894"/>
            <a:ext cx="3777915" cy="924560"/>
          </a:xfrm>
        </p:spPr>
        <p:txBody>
          <a:bodyPr vert="horz" lIns="91440" tIns="45720" rIns="91440" bIns="45720" rtlCol="0" anchor="t">
            <a:noAutofit/>
          </a:bodyPr>
          <a:lstStyle/>
          <a:p>
            <a:r>
              <a:rPr lang="en-IN" sz="900" dirty="0"/>
              <a:t>Sugarcane → Highest average yield, far exceeding all others.</a:t>
            </a:r>
          </a:p>
          <a:p>
            <a:r>
              <a:rPr lang="en-IN" sz="900" dirty="0"/>
              <a:t>Maize, Rice, Wheat → Moderate yields.</a:t>
            </a:r>
          </a:p>
          <a:p>
            <a:r>
              <a:rPr lang="en-IN" sz="900" dirty="0"/>
              <a:t>Chilli, Groundnut, Cotton, Pulses → Lower yields compared to staples and sugarcane.</a:t>
            </a:r>
          </a:p>
        </p:txBody>
      </p:sp>
      <p:pic>
        <p:nvPicPr>
          <p:cNvPr id="3" name="Picture 2">
            <a:extLst>
              <a:ext uri="{FF2B5EF4-FFF2-40B4-BE49-F238E27FC236}">
                <a16:creationId xmlns:a16="http://schemas.microsoft.com/office/drawing/2014/main" id="{F7F65073-DEF6-5605-E337-524706726831}"/>
              </a:ext>
            </a:extLst>
          </p:cNvPr>
          <p:cNvPicPr>
            <a:picLocks noChangeAspect="1"/>
          </p:cNvPicPr>
          <p:nvPr/>
        </p:nvPicPr>
        <p:blipFill>
          <a:blip r:embed="rId3"/>
          <a:stretch>
            <a:fillRect/>
          </a:stretch>
        </p:blipFill>
        <p:spPr>
          <a:xfrm>
            <a:off x="313429" y="857175"/>
            <a:ext cx="3553186" cy="1859390"/>
          </a:xfrm>
          <a:prstGeom prst="rect">
            <a:avLst/>
          </a:prstGeom>
        </p:spPr>
      </p:pic>
      <p:pic>
        <p:nvPicPr>
          <p:cNvPr id="9" name="Picture 8">
            <a:extLst>
              <a:ext uri="{FF2B5EF4-FFF2-40B4-BE49-F238E27FC236}">
                <a16:creationId xmlns:a16="http://schemas.microsoft.com/office/drawing/2014/main" id="{1E908C13-9713-78CA-B4C1-C4B73EE69148}"/>
              </a:ext>
            </a:extLst>
          </p:cNvPr>
          <p:cNvPicPr>
            <a:picLocks noChangeAspect="1"/>
          </p:cNvPicPr>
          <p:nvPr/>
        </p:nvPicPr>
        <p:blipFill>
          <a:blip r:embed="rId4"/>
          <a:stretch>
            <a:fillRect/>
          </a:stretch>
        </p:blipFill>
        <p:spPr>
          <a:xfrm>
            <a:off x="313429" y="3657783"/>
            <a:ext cx="3343561" cy="2547940"/>
          </a:xfrm>
          <a:prstGeom prst="rect">
            <a:avLst/>
          </a:prstGeom>
        </p:spPr>
      </p:pic>
      <p:sp>
        <p:nvSpPr>
          <p:cNvPr id="13" name="Text Placeholder 1">
            <a:extLst>
              <a:ext uri="{FF2B5EF4-FFF2-40B4-BE49-F238E27FC236}">
                <a16:creationId xmlns:a16="http://schemas.microsoft.com/office/drawing/2014/main" id="{18AA7AAF-6AA6-41E2-39F5-7DBC881FC893}"/>
              </a:ext>
            </a:extLst>
          </p:cNvPr>
          <p:cNvSpPr txBox="1">
            <a:spLocks/>
          </p:cNvSpPr>
          <p:nvPr/>
        </p:nvSpPr>
        <p:spPr>
          <a:xfrm>
            <a:off x="103804" y="6202680"/>
            <a:ext cx="3777915" cy="924560"/>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900" dirty="0"/>
              <a:t>Chilli’s premium value: Despite lower production and fewer farms, Chilli commands the highest price, making it a high-value cash crop.</a:t>
            </a:r>
          </a:p>
        </p:txBody>
      </p:sp>
      <p:pic>
        <p:nvPicPr>
          <p:cNvPr id="15" name="Picture 14">
            <a:extLst>
              <a:ext uri="{FF2B5EF4-FFF2-40B4-BE49-F238E27FC236}">
                <a16:creationId xmlns:a16="http://schemas.microsoft.com/office/drawing/2014/main" id="{A174946E-D106-40B2-C3A3-E7D4C2F33281}"/>
              </a:ext>
            </a:extLst>
          </p:cNvPr>
          <p:cNvPicPr>
            <a:picLocks noChangeAspect="1"/>
          </p:cNvPicPr>
          <p:nvPr/>
        </p:nvPicPr>
        <p:blipFill>
          <a:blip r:embed="rId5"/>
          <a:srcRect t="1443"/>
          <a:stretch>
            <a:fillRect/>
          </a:stretch>
        </p:blipFill>
        <p:spPr>
          <a:xfrm>
            <a:off x="4130121" y="792699"/>
            <a:ext cx="3559134" cy="1867719"/>
          </a:xfrm>
          <a:prstGeom prst="rect">
            <a:avLst/>
          </a:prstGeom>
        </p:spPr>
      </p:pic>
      <p:sp>
        <p:nvSpPr>
          <p:cNvPr id="18" name="Text Placeholder 1">
            <a:extLst>
              <a:ext uri="{FF2B5EF4-FFF2-40B4-BE49-F238E27FC236}">
                <a16:creationId xmlns:a16="http://schemas.microsoft.com/office/drawing/2014/main" id="{C8D87F63-FC67-E0E4-4694-E6755ABA51ED}"/>
              </a:ext>
            </a:extLst>
          </p:cNvPr>
          <p:cNvSpPr txBox="1">
            <a:spLocks/>
          </p:cNvSpPr>
          <p:nvPr/>
        </p:nvSpPr>
        <p:spPr>
          <a:xfrm>
            <a:off x="4020730" y="2660418"/>
            <a:ext cx="3777915" cy="109343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900" dirty="0"/>
              <a:t>Cash crops dominate: Sugarcane and Chilli stand out as highly profitable, likely due to strong market demand and higher price per tonne.</a:t>
            </a:r>
          </a:p>
          <a:p>
            <a:r>
              <a:rPr lang="en-IN" sz="900" dirty="0"/>
              <a:t>Staple crops (Rice, Wheat, Pulses): Lower profitability despite being essential for food security. This reflects lower market prices and higher production costs relative to returns.</a:t>
            </a:r>
          </a:p>
        </p:txBody>
      </p:sp>
      <p:pic>
        <p:nvPicPr>
          <p:cNvPr id="20" name="Picture 19">
            <a:extLst>
              <a:ext uri="{FF2B5EF4-FFF2-40B4-BE49-F238E27FC236}">
                <a16:creationId xmlns:a16="http://schemas.microsoft.com/office/drawing/2014/main" id="{0E2E621B-EA9B-9FD3-B98E-4475570B2D40}"/>
              </a:ext>
            </a:extLst>
          </p:cNvPr>
          <p:cNvPicPr>
            <a:picLocks noChangeAspect="1"/>
          </p:cNvPicPr>
          <p:nvPr/>
        </p:nvPicPr>
        <p:blipFill>
          <a:blip r:embed="rId6"/>
          <a:stretch>
            <a:fillRect/>
          </a:stretch>
        </p:blipFill>
        <p:spPr>
          <a:xfrm>
            <a:off x="4128517" y="3753853"/>
            <a:ext cx="3595688" cy="1981200"/>
          </a:xfrm>
          <a:prstGeom prst="rect">
            <a:avLst/>
          </a:prstGeom>
        </p:spPr>
      </p:pic>
      <p:sp>
        <p:nvSpPr>
          <p:cNvPr id="21" name="Text Placeholder 1">
            <a:extLst>
              <a:ext uri="{FF2B5EF4-FFF2-40B4-BE49-F238E27FC236}">
                <a16:creationId xmlns:a16="http://schemas.microsoft.com/office/drawing/2014/main" id="{42176E58-9EB7-1B44-8628-640F4686D48F}"/>
              </a:ext>
            </a:extLst>
          </p:cNvPr>
          <p:cNvSpPr txBox="1">
            <a:spLocks/>
          </p:cNvSpPr>
          <p:nvPr/>
        </p:nvSpPr>
        <p:spPr>
          <a:xfrm>
            <a:off x="4020729" y="5735053"/>
            <a:ext cx="3777915" cy="109343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r>
              <a:rPr lang="en-IN" sz="900" dirty="0"/>
              <a:t>Sugarcane dominates: Yield is far higher than all other crops (up to ~60 tonnes/ha), especially in the Kharif season.</a:t>
            </a:r>
          </a:p>
          <a:p>
            <a:pPr lvl="0"/>
            <a:r>
              <a:rPr lang="en-IN" sz="900" dirty="0"/>
              <a:t>Other crops (Wheat, Maize, Pulses, Rice, Cotton, Chilli, Groundnut): All remain below 5 tonnes/ha across seasons.</a:t>
            </a:r>
          </a:p>
        </p:txBody>
      </p:sp>
      <p:sp>
        <p:nvSpPr>
          <p:cNvPr id="22" name="Rectangle 21">
            <a:extLst>
              <a:ext uri="{FF2B5EF4-FFF2-40B4-BE49-F238E27FC236}">
                <a16:creationId xmlns:a16="http://schemas.microsoft.com/office/drawing/2014/main" id="{316007E6-B3AF-4636-1058-17107E03AE86}"/>
              </a:ext>
            </a:extLst>
          </p:cNvPr>
          <p:cNvSpPr/>
          <p:nvPr/>
        </p:nvSpPr>
        <p:spPr>
          <a:xfrm>
            <a:off x="8991600" y="-160421"/>
            <a:ext cx="3200400" cy="70184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4" name="Picture 23">
            <a:extLst>
              <a:ext uri="{FF2B5EF4-FFF2-40B4-BE49-F238E27FC236}">
                <a16:creationId xmlns:a16="http://schemas.microsoft.com/office/drawing/2014/main" id="{E4505B18-225C-692F-9162-3EC8D64D29C2}"/>
              </a:ext>
            </a:extLst>
          </p:cNvPr>
          <p:cNvPicPr>
            <a:picLocks noChangeAspect="1"/>
          </p:cNvPicPr>
          <p:nvPr/>
        </p:nvPicPr>
        <p:blipFill>
          <a:blip r:embed="rId7"/>
          <a:stretch>
            <a:fillRect/>
          </a:stretch>
        </p:blipFill>
        <p:spPr>
          <a:xfrm>
            <a:off x="7798644" y="729981"/>
            <a:ext cx="3942825" cy="1994913"/>
          </a:xfrm>
          <a:prstGeom prst="rect">
            <a:avLst/>
          </a:prstGeom>
        </p:spPr>
      </p:pic>
      <p:sp>
        <p:nvSpPr>
          <p:cNvPr id="27" name="Text Placeholder 1">
            <a:extLst>
              <a:ext uri="{FF2B5EF4-FFF2-40B4-BE49-F238E27FC236}">
                <a16:creationId xmlns:a16="http://schemas.microsoft.com/office/drawing/2014/main" id="{853F633A-3983-FA9F-E757-12FA9F39A87D}"/>
              </a:ext>
            </a:extLst>
          </p:cNvPr>
          <p:cNvSpPr txBox="1">
            <a:spLocks/>
          </p:cNvSpPr>
          <p:nvPr/>
        </p:nvSpPr>
        <p:spPr>
          <a:xfrm>
            <a:off x="7798644" y="2731577"/>
            <a:ext cx="3949331" cy="54112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900" dirty="0"/>
              <a:t>Punjab has highest productivity followed by </a:t>
            </a:r>
            <a:r>
              <a:rPr lang="en-IN" sz="900" dirty="0" err="1"/>
              <a:t>Karnataka,Gujrat,Telangana</a:t>
            </a:r>
            <a:r>
              <a:rPr lang="en-IN" sz="900" dirty="0"/>
              <a:t>, Maharashtra, Madhya Pradesh, Tamil Nadu and then Andhra Pradesh</a:t>
            </a:r>
          </a:p>
        </p:txBody>
      </p:sp>
      <p:sp>
        <p:nvSpPr>
          <p:cNvPr id="28" name="Text Placeholder 1">
            <a:extLst>
              <a:ext uri="{FF2B5EF4-FFF2-40B4-BE49-F238E27FC236}">
                <a16:creationId xmlns:a16="http://schemas.microsoft.com/office/drawing/2014/main" id="{6D566B50-30B2-FB33-FCB6-4AC7939189D1}"/>
              </a:ext>
            </a:extLst>
          </p:cNvPr>
          <p:cNvSpPr txBox="1">
            <a:spLocks/>
          </p:cNvSpPr>
          <p:nvPr/>
        </p:nvSpPr>
        <p:spPr>
          <a:xfrm>
            <a:off x="8270171" y="6077913"/>
            <a:ext cx="3777915" cy="90039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900" dirty="0"/>
              <a:t>Seed quality ↔ Yield: Positive correlation, showing genetic potential matters.</a:t>
            </a:r>
          </a:p>
          <a:p>
            <a:r>
              <a:rPr lang="en-IN" sz="900" dirty="0"/>
              <a:t>Farm size ↔ Cost: Very strong positive correlation (~0.96). Larger farms naturally incur higher costs.</a:t>
            </a:r>
          </a:p>
        </p:txBody>
      </p:sp>
      <p:pic>
        <p:nvPicPr>
          <p:cNvPr id="30" name="Picture 29">
            <a:extLst>
              <a:ext uri="{FF2B5EF4-FFF2-40B4-BE49-F238E27FC236}">
                <a16:creationId xmlns:a16="http://schemas.microsoft.com/office/drawing/2014/main" id="{C94F2401-86AD-DBBF-A670-8E4D51D82C62}"/>
              </a:ext>
            </a:extLst>
          </p:cNvPr>
          <p:cNvPicPr>
            <a:picLocks noChangeAspect="1"/>
          </p:cNvPicPr>
          <p:nvPr/>
        </p:nvPicPr>
        <p:blipFill>
          <a:blip r:embed="rId8"/>
          <a:stretch>
            <a:fillRect/>
          </a:stretch>
        </p:blipFill>
        <p:spPr>
          <a:xfrm>
            <a:off x="8270171" y="3272702"/>
            <a:ext cx="3296045" cy="284049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Effect transition="in" filter="fade">
                                      <p:cBhvr>
                                        <p:cTn id="49" dur="1000"/>
                                        <p:tgtEl>
                                          <p:spTgt spid="13">
                                            <p:txEl>
                                              <p:pRg st="0" end="0"/>
                                            </p:txEl>
                                          </p:spTgt>
                                        </p:tgtEl>
                                      </p:cBhvr>
                                    </p:animEffect>
                                    <p:anim calcmode="lin" valueType="num">
                                      <p:cBhvr>
                                        <p:cTn id="50"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8">
                                            <p:txEl>
                                              <p:pRg st="0" end="0"/>
                                            </p:txEl>
                                          </p:spTgt>
                                        </p:tgtEl>
                                        <p:attrNameLst>
                                          <p:attrName>style.visibility</p:attrName>
                                        </p:attrNameLst>
                                      </p:cBhvr>
                                      <p:to>
                                        <p:strVal val="visible"/>
                                      </p:to>
                                    </p:set>
                                    <p:animEffect transition="in" filter="fade">
                                      <p:cBhvr>
                                        <p:cTn id="56" dur="1000"/>
                                        <p:tgtEl>
                                          <p:spTgt spid="18">
                                            <p:txEl>
                                              <p:pRg st="0" end="0"/>
                                            </p:txEl>
                                          </p:spTgt>
                                        </p:tgtEl>
                                      </p:cBhvr>
                                    </p:animEffect>
                                    <p:anim calcmode="lin" valueType="num">
                                      <p:cBhvr>
                                        <p:cTn id="57"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8">
                                            <p:txEl>
                                              <p:pRg st="1" end="1"/>
                                            </p:txEl>
                                          </p:spTgt>
                                        </p:tgtEl>
                                        <p:attrNameLst>
                                          <p:attrName>style.visibility</p:attrName>
                                        </p:attrNameLst>
                                      </p:cBhvr>
                                      <p:to>
                                        <p:strVal val="visible"/>
                                      </p:to>
                                    </p:set>
                                    <p:animEffect transition="in" filter="fade">
                                      <p:cBhvr>
                                        <p:cTn id="63" dur="1000"/>
                                        <p:tgtEl>
                                          <p:spTgt spid="18">
                                            <p:txEl>
                                              <p:pRg st="1" end="1"/>
                                            </p:txEl>
                                          </p:spTgt>
                                        </p:tgtEl>
                                      </p:cBhvr>
                                    </p:animEffect>
                                    <p:anim calcmode="lin" valueType="num">
                                      <p:cBhvr>
                                        <p:cTn id="64"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65"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1">
                                            <p:txEl>
                                              <p:pRg st="0" end="0"/>
                                            </p:txEl>
                                          </p:spTgt>
                                        </p:tgtEl>
                                        <p:attrNameLst>
                                          <p:attrName>style.visibility</p:attrName>
                                        </p:attrNameLst>
                                      </p:cBhvr>
                                      <p:to>
                                        <p:strVal val="visible"/>
                                      </p:to>
                                    </p:set>
                                    <p:animEffect transition="in" filter="fade">
                                      <p:cBhvr>
                                        <p:cTn id="70" dur="1000"/>
                                        <p:tgtEl>
                                          <p:spTgt spid="21">
                                            <p:txEl>
                                              <p:pRg st="0" end="0"/>
                                            </p:txEl>
                                          </p:spTgt>
                                        </p:tgtEl>
                                      </p:cBhvr>
                                    </p:animEffect>
                                    <p:anim calcmode="lin" valueType="num">
                                      <p:cBhvr>
                                        <p:cTn id="71"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72"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1">
                                            <p:txEl>
                                              <p:pRg st="1" end="1"/>
                                            </p:txEl>
                                          </p:spTgt>
                                        </p:tgtEl>
                                        <p:attrNameLst>
                                          <p:attrName>style.visibility</p:attrName>
                                        </p:attrNameLst>
                                      </p:cBhvr>
                                      <p:to>
                                        <p:strVal val="visible"/>
                                      </p:to>
                                    </p:set>
                                    <p:animEffect transition="in" filter="fade">
                                      <p:cBhvr>
                                        <p:cTn id="77" dur="1000"/>
                                        <p:tgtEl>
                                          <p:spTgt spid="21">
                                            <p:txEl>
                                              <p:pRg st="1" end="1"/>
                                            </p:txEl>
                                          </p:spTgt>
                                        </p:tgtEl>
                                      </p:cBhvr>
                                    </p:animEffect>
                                    <p:anim calcmode="lin" valueType="num">
                                      <p:cBhvr>
                                        <p:cTn id="78" dur="10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79" dur="1000" fill="hold"/>
                                        <p:tgtEl>
                                          <p:spTgt spid="2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7">
                                            <p:txEl>
                                              <p:pRg st="0" end="0"/>
                                            </p:txEl>
                                          </p:spTgt>
                                        </p:tgtEl>
                                        <p:attrNameLst>
                                          <p:attrName>style.visibility</p:attrName>
                                        </p:attrNameLst>
                                      </p:cBhvr>
                                      <p:to>
                                        <p:strVal val="visible"/>
                                      </p:to>
                                    </p:set>
                                    <p:animEffect transition="in" filter="fade">
                                      <p:cBhvr>
                                        <p:cTn id="84" dur="1000"/>
                                        <p:tgtEl>
                                          <p:spTgt spid="27">
                                            <p:txEl>
                                              <p:pRg st="0" end="0"/>
                                            </p:txEl>
                                          </p:spTgt>
                                        </p:tgtEl>
                                      </p:cBhvr>
                                    </p:animEffect>
                                    <p:anim calcmode="lin" valueType="num">
                                      <p:cBhvr>
                                        <p:cTn id="85" dur="1000" fill="hold"/>
                                        <p:tgtEl>
                                          <p:spTgt spid="27">
                                            <p:txEl>
                                              <p:pRg st="0" end="0"/>
                                            </p:txEl>
                                          </p:spTgt>
                                        </p:tgtEl>
                                        <p:attrNameLst>
                                          <p:attrName>ppt_x</p:attrName>
                                        </p:attrNameLst>
                                      </p:cBhvr>
                                      <p:tavLst>
                                        <p:tav tm="0">
                                          <p:val>
                                            <p:strVal val="#ppt_x"/>
                                          </p:val>
                                        </p:tav>
                                        <p:tav tm="100000">
                                          <p:val>
                                            <p:strVal val="#ppt_x"/>
                                          </p:val>
                                        </p:tav>
                                      </p:tavLst>
                                    </p:anim>
                                    <p:anim calcmode="lin" valueType="num">
                                      <p:cBhvr>
                                        <p:cTn id="86" dur="1000" fill="hold"/>
                                        <p:tgtEl>
                                          <p:spTgt spid="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8">
                                            <p:txEl>
                                              <p:pRg st="0" end="0"/>
                                            </p:txEl>
                                          </p:spTgt>
                                        </p:tgtEl>
                                        <p:attrNameLst>
                                          <p:attrName>style.visibility</p:attrName>
                                        </p:attrNameLst>
                                      </p:cBhvr>
                                      <p:to>
                                        <p:strVal val="visible"/>
                                      </p:to>
                                    </p:set>
                                    <p:animEffect transition="in" filter="fade">
                                      <p:cBhvr>
                                        <p:cTn id="91" dur="1000"/>
                                        <p:tgtEl>
                                          <p:spTgt spid="28">
                                            <p:txEl>
                                              <p:pRg st="0" end="0"/>
                                            </p:txEl>
                                          </p:spTgt>
                                        </p:tgtEl>
                                      </p:cBhvr>
                                    </p:animEffect>
                                    <p:anim calcmode="lin" valueType="num">
                                      <p:cBhvr>
                                        <p:cTn id="92" dur="1000" fill="hold"/>
                                        <p:tgtEl>
                                          <p:spTgt spid="28">
                                            <p:txEl>
                                              <p:pRg st="0" end="0"/>
                                            </p:txEl>
                                          </p:spTgt>
                                        </p:tgtEl>
                                        <p:attrNameLst>
                                          <p:attrName>ppt_x</p:attrName>
                                        </p:attrNameLst>
                                      </p:cBhvr>
                                      <p:tavLst>
                                        <p:tav tm="0">
                                          <p:val>
                                            <p:strVal val="#ppt_x"/>
                                          </p:val>
                                        </p:tav>
                                        <p:tav tm="100000">
                                          <p:val>
                                            <p:strVal val="#ppt_x"/>
                                          </p:val>
                                        </p:tav>
                                      </p:tavLst>
                                    </p:anim>
                                    <p:anim calcmode="lin" valueType="num">
                                      <p:cBhvr>
                                        <p:cTn id="93" dur="1000" fill="hold"/>
                                        <p:tgtEl>
                                          <p:spTgt spid="2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8">
                                            <p:txEl>
                                              <p:pRg st="1" end="1"/>
                                            </p:txEl>
                                          </p:spTgt>
                                        </p:tgtEl>
                                        <p:attrNameLst>
                                          <p:attrName>style.visibility</p:attrName>
                                        </p:attrNameLst>
                                      </p:cBhvr>
                                      <p:to>
                                        <p:strVal val="visible"/>
                                      </p:to>
                                    </p:set>
                                    <p:animEffect transition="in" filter="fade">
                                      <p:cBhvr>
                                        <p:cTn id="98" dur="1000"/>
                                        <p:tgtEl>
                                          <p:spTgt spid="28">
                                            <p:txEl>
                                              <p:pRg st="1" end="1"/>
                                            </p:txEl>
                                          </p:spTgt>
                                        </p:tgtEl>
                                      </p:cBhvr>
                                    </p:animEffect>
                                    <p:anim calcmode="lin" valueType="num">
                                      <p:cBhvr>
                                        <p:cTn id="99" dur="1000" fill="hold"/>
                                        <p:tgtEl>
                                          <p:spTgt spid="28">
                                            <p:txEl>
                                              <p:pRg st="1" end="1"/>
                                            </p:txEl>
                                          </p:spTgt>
                                        </p:tgtEl>
                                        <p:attrNameLst>
                                          <p:attrName>ppt_x</p:attrName>
                                        </p:attrNameLst>
                                      </p:cBhvr>
                                      <p:tavLst>
                                        <p:tav tm="0">
                                          <p:val>
                                            <p:strVal val="#ppt_x"/>
                                          </p:val>
                                        </p:tav>
                                        <p:tav tm="100000">
                                          <p:val>
                                            <p:strVal val="#ppt_x"/>
                                          </p:val>
                                        </p:tav>
                                      </p:tavLst>
                                    </p:anim>
                                    <p:anim calcmode="lin" valueType="num">
                                      <p:cBhvr>
                                        <p:cTn id="100" dur="1000" fill="hold"/>
                                        <p:tgtEl>
                                          <p:spTgt spid="2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3" grpId="0" build="p"/>
      <p:bldP spid="18" grpId="0" build="p"/>
      <p:bldP spid="21" grpId="0" build="p"/>
      <p:bldP spid="27" grpId="0" build="p"/>
      <p:bldP spid="2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233119" y="88435"/>
            <a:ext cx="2051201" cy="712292"/>
          </a:xfrm>
        </p:spPr>
        <p:txBody>
          <a:bodyPr>
            <a:normAutofit/>
          </a:bodyPr>
          <a:lstStyle/>
          <a:p>
            <a:r>
              <a:rPr lang="en-GB" sz="3600" dirty="0">
                <a:latin typeface="Cambria" panose="02040503050406030204" pitchFamily="18" charset="0"/>
                <a:ea typeface="Cambria" panose="02040503050406030204" pitchFamily="18" charset="0"/>
              </a:rPr>
              <a:t>RESULTS </a:t>
            </a:r>
            <a:endParaRPr lang="en-IN" sz="3600" dirty="0">
              <a:latin typeface="Cambria" panose="02040503050406030204" pitchFamily="18" charset="0"/>
              <a:ea typeface="Cambria" panose="020405030504060302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33119" y="3411580"/>
            <a:ext cx="3028799" cy="471547"/>
          </a:xfrm>
        </p:spPr>
        <p:txBody>
          <a:bodyPr>
            <a:normAutofit fontScale="40000" lnSpcReduction="20000"/>
          </a:bodyPr>
          <a:lstStyle/>
          <a:p>
            <a:pPr marL="0" indent="0">
              <a:buNone/>
            </a:pPr>
            <a:r>
              <a:rPr lang="en-IN" dirty="0">
                <a:latin typeface="Cambria" panose="02040503050406030204" pitchFamily="18" charset="0"/>
                <a:ea typeface="Cambria" panose="02040503050406030204" pitchFamily="18" charset="0"/>
              </a:rPr>
              <a:t>Interpretation: Simply adding more fertilizer (NPK) doesn’t guarantee higher yield. Other factors—rainfall, soil pH, crop type, farming practices—play a much bigger role.</a:t>
            </a:r>
            <a:endParaRPr lang="en-IN" sz="900"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B2E1C0C-B0C4-25D1-A5C7-3A7E0AFD0CAE}"/>
              </a:ext>
            </a:extLst>
          </p:cNvPr>
          <p:cNvPicPr>
            <a:picLocks noChangeAspect="1"/>
          </p:cNvPicPr>
          <p:nvPr/>
        </p:nvPicPr>
        <p:blipFill>
          <a:blip r:embed="rId3"/>
          <a:stretch>
            <a:fillRect/>
          </a:stretch>
        </p:blipFill>
        <p:spPr>
          <a:xfrm>
            <a:off x="233119" y="721576"/>
            <a:ext cx="3028799" cy="2612689"/>
          </a:xfrm>
          <a:prstGeom prst="rect">
            <a:avLst/>
          </a:prstGeom>
        </p:spPr>
      </p:pic>
      <p:pic>
        <p:nvPicPr>
          <p:cNvPr id="9" name="Picture 8">
            <a:extLst>
              <a:ext uri="{FF2B5EF4-FFF2-40B4-BE49-F238E27FC236}">
                <a16:creationId xmlns:a16="http://schemas.microsoft.com/office/drawing/2014/main" id="{1DA7671A-AC37-FCA0-3517-D3F16812738A}"/>
              </a:ext>
            </a:extLst>
          </p:cNvPr>
          <p:cNvPicPr>
            <a:picLocks noChangeAspect="1"/>
          </p:cNvPicPr>
          <p:nvPr/>
        </p:nvPicPr>
        <p:blipFill>
          <a:blip r:embed="rId4"/>
          <a:stretch>
            <a:fillRect/>
          </a:stretch>
        </p:blipFill>
        <p:spPr>
          <a:xfrm>
            <a:off x="3582017" y="721576"/>
            <a:ext cx="3429563" cy="2061436"/>
          </a:xfrm>
          <a:prstGeom prst="rect">
            <a:avLst/>
          </a:prstGeom>
        </p:spPr>
      </p:pic>
      <p:sp>
        <p:nvSpPr>
          <p:cNvPr id="11" name="Text Placeholder 1">
            <a:extLst>
              <a:ext uri="{FF2B5EF4-FFF2-40B4-BE49-F238E27FC236}">
                <a16:creationId xmlns:a16="http://schemas.microsoft.com/office/drawing/2014/main" id="{E8297DD3-F869-3F9B-AD29-00AEBD4273B1}"/>
              </a:ext>
            </a:extLst>
          </p:cNvPr>
          <p:cNvSpPr txBox="1">
            <a:spLocks/>
          </p:cNvSpPr>
          <p:nvPr/>
        </p:nvSpPr>
        <p:spPr>
          <a:xfrm>
            <a:off x="3664543" y="2807499"/>
            <a:ext cx="3429563" cy="120816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sz="800" dirty="0">
                <a:latin typeface="Cambria" panose="02040503050406030204" pitchFamily="18" charset="0"/>
                <a:ea typeface="Cambria" panose="02040503050406030204" pitchFamily="18" charset="0"/>
              </a:rPr>
              <a:t>Rainfed → Highest efficiency (natural rainfall, no irrigation cost).</a:t>
            </a:r>
          </a:p>
          <a:p>
            <a:pPr marL="0" indent="0">
              <a:buNone/>
            </a:pPr>
            <a:r>
              <a:rPr lang="en-IN" sz="800" dirty="0">
                <a:latin typeface="Cambria" panose="02040503050406030204" pitchFamily="18" charset="0"/>
                <a:ea typeface="Cambria" panose="02040503050406030204" pitchFamily="18" charset="0"/>
              </a:rPr>
              <a:t>Drip → Next best, very efficient because water is delivered directly to plant roots.</a:t>
            </a:r>
          </a:p>
          <a:p>
            <a:pPr marL="0" indent="0">
              <a:buNone/>
            </a:pPr>
            <a:r>
              <a:rPr lang="en-IN" sz="800" dirty="0">
                <a:latin typeface="Cambria" panose="02040503050406030204" pitchFamily="18" charset="0"/>
                <a:ea typeface="Cambria" panose="02040503050406030204" pitchFamily="18" charset="0"/>
              </a:rPr>
              <a:t>Sprinkler → Moderate efficiency, but some water loss through evaporation.</a:t>
            </a:r>
          </a:p>
          <a:p>
            <a:pPr marL="0" indent="0">
              <a:buNone/>
            </a:pPr>
            <a:r>
              <a:rPr lang="en-IN" sz="800" dirty="0">
                <a:latin typeface="Cambria" panose="02040503050406030204" pitchFamily="18" charset="0"/>
                <a:ea typeface="Cambria" panose="02040503050406030204" pitchFamily="18" charset="0"/>
              </a:rPr>
              <a:t>Flood → Lowest efficiency, with large losses due to runoff and deep percolation</a:t>
            </a:r>
          </a:p>
        </p:txBody>
      </p:sp>
      <p:pic>
        <p:nvPicPr>
          <p:cNvPr id="13" name="Picture 12">
            <a:extLst>
              <a:ext uri="{FF2B5EF4-FFF2-40B4-BE49-F238E27FC236}">
                <a16:creationId xmlns:a16="http://schemas.microsoft.com/office/drawing/2014/main" id="{7CAD2B1B-B916-95B1-241D-58383EEE4C9E}"/>
              </a:ext>
            </a:extLst>
          </p:cNvPr>
          <p:cNvPicPr>
            <a:picLocks noChangeAspect="1"/>
          </p:cNvPicPr>
          <p:nvPr/>
        </p:nvPicPr>
        <p:blipFill>
          <a:blip r:embed="rId5"/>
          <a:stretch>
            <a:fillRect/>
          </a:stretch>
        </p:blipFill>
        <p:spPr>
          <a:xfrm>
            <a:off x="100709" y="3834422"/>
            <a:ext cx="3293617" cy="2164259"/>
          </a:xfrm>
          <a:prstGeom prst="rect">
            <a:avLst/>
          </a:prstGeom>
        </p:spPr>
      </p:pic>
      <p:sp>
        <p:nvSpPr>
          <p:cNvPr id="14" name="Text Placeholder 1">
            <a:extLst>
              <a:ext uri="{FF2B5EF4-FFF2-40B4-BE49-F238E27FC236}">
                <a16:creationId xmlns:a16="http://schemas.microsoft.com/office/drawing/2014/main" id="{DBB18463-B203-93FA-2612-F4F3C71D7884}"/>
              </a:ext>
            </a:extLst>
          </p:cNvPr>
          <p:cNvSpPr txBox="1">
            <a:spLocks/>
          </p:cNvSpPr>
          <p:nvPr/>
        </p:nvSpPr>
        <p:spPr>
          <a:xfrm>
            <a:off x="52583" y="6001954"/>
            <a:ext cx="3529434" cy="113297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sz="800" dirty="0">
                <a:latin typeface="Cambria" panose="02040503050406030204" pitchFamily="18" charset="0"/>
                <a:ea typeface="Cambria" panose="02040503050406030204" pitchFamily="18" charset="0"/>
              </a:rPr>
              <a:t>Rabi season dominates water usage — around 41,000 m³, making it the most irrigation-intensive season.</a:t>
            </a:r>
          </a:p>
          <a:p>
            <a:pPr marL="0" indent="0">
              <a:buNone/>
            </a:pPr>
            <a:r>
              <a:rPr lang="en-IN" sz="800" dirty="0">
                <a:latin typeface="Cambria" panose="02040503050406030204" pitchFamily="18" charset="0"/>
                <a:ea typeface="Cambria" panose="02040503050406030204" pitchFamily="18" charset="0"/>
              </a:rPr>
              <a:t>Kharif season follows with ~36,000 m³, but rainfall during monsoon reduces irrigation needs compared to Rabi. Zaid season uses the least (~34,000 m³), reflecting its short crop cycle and lower water demand</a:t>
            </a:r>
          </a:p>
        </p:txBody>
      </p:sp>
      <p:pic>
        <p:nvPicPr>
          <p:cNvPr id="16" name="Picture 15">
            <a:extLst>
              <a:ext uri="{FF2B5EF4-FFF2-40B4-BE49-F238E27FC236}">
                <a16:creationId xmlns:a16="http://schemas.microsoft.com/office/drawing/2014/main" id="{741BF2A4-790C-5EC3-3F2B-EF8A9EEACE75}"/>
              </a:ext>
            </a:extLst>
          </p:cNvPr>
          <p:cNvPicPr>
            <a:picLocks noChangeAspect="1"/>
          </p:cNvPicPr>
          <p:nvPr/>
        </p:nvPicPr>
        <p:blipFill>
          <a:blip r:embed="rId6"/>
          <a:stretch>
            <a:fillRect/>
          </a:stretch>
        </p:blipFill>
        <p:spPr>
          <a:xfrm>
            <a:off x="7331679" y="721576"/>
            <a:ext cx="3833626" cy="3068875"/>
          </a:xfrm>
          <a:prstGeom prst="rect">
            <a:avLst/>
          </a:prstGeom>
        </p:spPr>
      </p:pic>
      <p:sp>
        <p:nvSpPr>
          <p:cNvPr id="17" name="Text Placeholder 1">
            <a:extLst>
              <a:ext uri="{FF2B5EF4-FFF2-40B4-BE49-F238E27FC236}">
                <a16:creationId xmlns:a16="http://schemas.microsoft.com/office/drawing/2014/main" id="{8C76031B-1DB8-DA11-D61E-1EE3BB8A145D}"/>
              </a:ext>
            </a:extLst>
          </p:cNvPr>
          <p:cNvSpPr txBox="1">
            <a:spLocks/>
          </p:cNvSpPr>
          <p:nvPr/>
        </p:nvSpPr>
        <p:spPr>
          <a:xfrm>
            <a:off x="7414205" y="3834422"/>
            <a:ext cx="3833626" cy="120816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800" dirty="0">
                <a:latin typeface="Cambria" panose="02040503050406030204" pitchFamily="18" charset="0"/>
                <a:ea typeface="Cambria" panose="02040503050406030204" pitchFamily="18" charset="0"/>
              </a:rPr>
              <a:t>Positive correlation: As humidity increases, disease/pest risk also rises. This makes sense biologically—fungal pathogens, bacteria, and many pests thrive in moist environments.</a:t>
            </a:r>
          </a:p>
          <a:p>
            <a:r>
              <a:rPr lang="en-IN" sz="800" dirty="0">
                <a:latin typeface="Cambria" panose="02040503050406030204" pitchFamily="18" charset="0"/>
                <a:ea typeface="Cambria" panose="02040503050406030204" pitchFamily="18" charset="0"/>
              </a:rPr>
              <a:t>Dense clustering: Most points fall along an upward trend, suggesting this relationship is consistent across different conditions.</a:t>
            </a:r>
          </a:p>
          <a:p>
            <a:r>
              <a:rPr lang="en-IN" sz="800" dirty="0">
                <a:latin typeface="Cambria" panose="02040503050406030204" pitchFamily="18" charset="0"/>
                <a:ea typeface="Cambria" panose="02040503050406030204" pitchFamily="18" charset="0"/>
              </a:rPr>
              <a:t>Risk threshold: Once humidity exceeds ~70%, risk levels tend to be significantly higher, indicating a critical zone where crops become more vulnerable</a:t>
            </a:r>
          </a:p>
        </p:txBody>
      </p:sp>
      <p:pic>
        <p:nvPicPr>
          <p:cNvPr id="19" name="Picture 18">
            <a:extLst>
              <a:ext uri="{FF2B5EF4-FFF2-40B4-BE49-F238E27FC236}">
                <a16:creationId xmlns:a16="http://schemas.microsoft.com/office/drawing/2014/main" id="{0136AB37-1979-61D2-805C-056D3428BFA5}"/>
              </a:ext>
            </a:extLst>
          </p:cNvPr>
          <p:cNvPicPr>
            <a:picLocks noChangeAspect="1"/>
          </p:cNvPicPr>
          <p:nvPr/>
        </p:nvPicPr>
        <p:blipFill>
          <a:blip r:embed="rId7"/>
          <a:stretch>
            <a:fillRect/>
          </a:stretch>
        </p:blipFill>
        <p:spPr>
          <a:xfrm>
            <a:off x="3735143" y="4040147"/>
            <a:ext cx="3429563" cy="2431773"/>
          </a:xfrm>
          <a:prstGeom prst="rect">
            <a:avLst/>
          </a:prstGeom>
        </p:spPr>
      </p:pic>
      <p:sp>
        <p:nvSpPr>
          <p:cNvPr id="20" name="Text Placeholder 1">
            <a:extLst>
              <a:ext uri="{FF2B5EF4-FFF2-40B4-BE49-F238E27FC236}">
                <a16:creationId xmlns:a16="http://schemas.microsoft.com/office/drawing/2014/main" id="{881A724D-1DE1-074E-B6AF-043371211A89}"/>
              </a:ext>
            </a:extLst>
          </p:cNvPr>
          <p:cNvSpPr txBox="1">
            <a:spLocks/>
          </p:cNvSpPr>
          <p:nvPr/>
        </p:nvSpPr>
        <p:spPr>
          <a:xfrm>
            <a:off x="3498053" y="6471920"/>
            <a:ext cx="3833626" cy="51638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800" dirty="0">
                <a:latin typeface="Cambria" panose="02040503050406030204" pitchFamily="18" charset="0"/>
                <a:ea typeface="Cambria" panose="02040503050406030204" pitchFamily="18" charset="0"/>
              </a:rPr>
              <a:t>Triangular pattern: Suggests that only within the optimal pH range do crops reach their maximum potential. Outside this range, yields taper off.</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Effect transition="in" filter="fade">
                                      <p:cBhvr>
                                        <p:cTn id="35" dur="1000"/>
                                        <p:tgtEl>
                                          <p:spTgt spid="11">
                                            <p:txEl>
                                              <p:pRg st="0" end="0"/>
                                            </p:txEl>
                                          </p:spTgt>
                                        </p:tgtEl>
                                      </p:cBhvr>
                                    </p:animEffect>
                                    <p:anim calcmode="lin" valueType="num">
                                      <p:cBhvr>
                                        <p:cTn id="36"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xEl>
                                              <p:pRg st="1" end="1"/>
                                            </p:txEl>
                                          </p:spTgt>
                                        </p:tgtEl>
                                        <p:attrNameLst>
                                          <p:attrName>style.visibility</p:attrName>
                                        </p:attrNameLst>
                                      </p:cBhvr>
                                      <p:to>
                                        <p:strVal val="visible"/>
                                      </p:to>
                                    </p:set>
                                    <p:animEffect transition="in" filter="fade">
                                      <p:cBhvr>
                                        <p:cTn id="42" dur="1000"/>
                                        <p:tgtEl>
                                          <p:spTgt spid="11">
                                            <p:txEl>
                                              <p:pRg st="1" end="1"/>
                                            </p:txEl>
                                          </p:spTgt>
                                        </p:tgtEl>
                                      </p:cBhvr>
                                    </p:animEffect>
                                    <p:anim calcmode="lin" valueType="num">
                                      <p:cBhvr>
                                        <p:cTn id="43"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xEl>
                                              <p:pRg st="2" end="2"/>
                                            </p:txEl>
                                          </p:spTgt>
                                        </p:tgtEl>
                                        <p:attrNameLst>
                                          <p:attrName>style.visibility</p:attrName>
                                        </p:attrNameLst>
                                      </p:cBhvr>
                                      <p:to>
                                        <p:strVal val="visible"/>
                                      </p:to>
                                    </p:set>
                                    <p:animEffect transition="in" filter="fade">
                                      <p:cBhvr>
                                        <p:cTn id="49" dur="1000"/>
                                        <p:tgtEl>
                                          <p:spTgt spid="11">
                                            <p:txEl>
                                              <p:pRg st="2" end="2"/>
                                            </p:txEl>
                                          </p:spTgt>
                                        </p:tgtEl>
                                      </p:cBhvr>
                                    </p:animEffect>
                                    <p:anim calcmode="lin" valueType="num">
                                      <p:cBhvr>
                                        <p:cTn id="50"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xEl>
                                              <p:pRg st="3" end="3"/>
                                            </p:txEl>
                                          </p:spTgt>
                                        </p:tgtEl>
                                        <p:attrNameLst>
                                          <p:attrName>style.visibility</p:attrName>
                                        </p:attrNameLst>
                                      </p:cBhvr>
                                      <p:to>
                                        <p:strVal val="visible"/>
                                      </p:to>
                                    </p:set>
                                    <p:animEffect transition="in" filter="fade">
                                      <p:cBhvr>
                                        <p:cTn id="56" dur="1000"/>
                                        <p:tgtEl>
                                          <p:spTgt spid="11">
                                            <p:txEl>
                                              <p:pRg st="3" end="3"/>
                                            </p:txEl>
                                          </p:spTgt>
                                        </p:tgtEl>
                                      </p:cBhvr>
                                    </p:animEffect>
                                    <p:anim calcmode="lin" valueType="num">
                                      <p:cBhvr>
                                        <p:cTn id="57"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58"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4">
                                            <p:txEl>
                                              <p:pRg st="0" end="0"/>
                                            </p:txEl>
                                          </p:spTgt>
                                        </p:tgtEl>
                                        <p:attrNameLst>
                                          <p:attrName>style.visibility</p:attrName>
                                        </p:attrNameLst>
                                      </p:cBhvr>
                                      <p:to>
                                        <p:strVal val="visible"/>
                                      </p:to>
                                    </p:set>
                                    <p:animEffect transition="in" filter="fade">
                                      <p:cBhvr>
                                        <p:cTn id="63" dur="1000"/>
                                        <p:tgtEl>
                                          <p:spTgt spid="14">
                                            <p:txEl>
                                              <p:pRg st="0" end="0"/>
                                            </p:txEl>
                                          </p:spTgt>
                                        </p:tgtEl>
                                      </p:cBhvr>
                                    </p:animEffect>
                                    <p:anim calcmode="lin" valueType="num">
                                      <p:cBhvr>
                                        <p:cTn id="64"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4">
                                            <p:txEl>
                                              <p:pRg st="1" end="1"/>
                                            </p:txEl>
                                          </p:spTgt>
                                        </p:tgtEl>
                                        <p:attrNameLst>
                                          <p:attrName>style.visibility</p:attrName>
                                        </p:attrNameLst>
                                      </p:cBhvr>
                                      <p:to>
                                        <p:strVal val="visible"/>
                                      </p:to>
                                    </p:set>
                                    <p:animEffect transition="in" filter="fade">
                                      <p:cBhvr>
                                        <p:cTn id="70" dur="1000"/>
                                        <p:tgtEl>
                                          <p:spTgt spid="14">
                                            <p:txEl>
                                              <p:pRg st="1" end="1"/>
                                            </p:txEl>
                                          </p:spTgt>
                                        </p:tgtEl>
                                      </p:cBhvr>
                                    </p:animEffect>
                                    <p:anim calcmode="lin" valueType="num">
                                      <p:cBhvr>
                                        <p:cTn id="71"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72"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7">
                                            <p:txEl>
                                              <p:pRg st="0" end="0"/>
                                            </p:txEl>
                                          </p:spTgt>
                                        </p:tgtEl>
                                        <p:attrNameLst>
                                          <p:attrName>style.visibility</p:attrName>
                                        </p:attrNameLst>
                                      </p:cBhvr>
                                      <p:to>
                                        <p:strVal val="visible"/>
                                      </p:to>
                                    </p:set>
                                    <p:animEffect transition="in" filter="fade">
                                      <p:cBhvr>
                                        <p:cTn id="77" dur="1000"/>
                                        <p:tgtEl>
                                          <p:spTgt spid="17">
                                            <p:txEl>
                                              <p:pRg st="0" end="0"/>
                                            </p:txEl>
                                          </p:spTgt>
                                        </p:tgtEl>
                                      </p:cBhvr>
                                    </p:animEffect>
                                    <p:anim calcmode="lin" valueType="num">
                                      <p:cBhvr>
                                        <p:cTn id="7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7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7">
                                            <p:txEl>
                                              <p:pRg st="1" end="1"/>
                                            </p:txEl>
                                          </p:spTgt>
                                        </p:tgtEl>
                                        <p:attrNameLst>
                                          <p:attrName>style.visibility</p:attrName>
                                        </p:attrNameLst>
                                      </p:cBhvr>
                                      <p:to>
                                        <p:strVal val="visible"/>
                                      </p:to>
                                    </p:set>
                                    <p:animEffect transition="in" filter="fade">
                                      <p:cBhvr>
                                        <p:cTn id="84" dur="1000"/>
                                        <p:tgtEl>
                                          <p:spTgt spid="17">
                                            <p:txEl>
                                              <p:pRg st="1" end="1"/>
                                            </p:txEl>
                                          </p:spTgt>
                                        </p:tgtEl>
                                      </p:cBhvr>
                                    </p:animEffect>
                                    <p:anim calcmode="lin" valueType="num">
                                      <p:cBhvr>
                                        <p:cTn id="8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8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7">
                                            <p:txEl>
                                              <p:pRg st="2" end="2"/>
                                            </p:txEl>
                                          </p:spTgt>
                                        </p:tgtEl>
                                        <p:attrNameLst>
                                          <p:attrName>style.visibility</p:attrName>
                                        </p:attrNameLst>
                                      </p:cBhvr>
                                      <p:to>
                                        <p:strVal val="visible"/>
                                      </p:to>
                                    </p:set>
                                    <p:animEffect transition="in" filter="fade">
                                      <p:cBhvr>
                                        <p:cTn id="91" dur="1000"/>
                                        <p:tgtEl>
                                          <p:spTgt spid="17">
                                            <p:txEl>
                                              <p:pRg st="2" end="2"/>
                                            </p:txEl>
                                          </p:spTgt>
                                        </p:tgtEl>
                                      </p:cBhvr>
                                    </p:animEffect>
                                    <p:anim calcmode="lin" valueType="num">
                                      <p:cBhvr>
                                        <p:cTn id="9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9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0">
                                            <p:txEl>
                                              <p:pRg st="0" end="0"/>
                                            </p:txEl>
                                          </p:spTgt>
                                        </p:tgtEl>
                                        <p:attrNameLst>
                                          <p:attrName>style.visibility</p:attrName>
                                        </p:attrNameLst>
                                      </p:cBhvr>
                                      <p:to>
                                        <p:strVal val="visible"/>
                                      </p:to>
                                    </p:set>
                                    <p:animEffect transition="in" filter="fade">
                                      <p:cBhvr>
                                        <p:cTn id="98" dur="1000"/>
                                        <p:tgtEl>
                                          <p:spTgt spid="20">
                                            <p:txEl>
                                              <p:pRg st="0" end="0"/>
                                            </p:txEl>
                                          </p:spTgt>
                                        </p:tgtEl>
                                      </p:cBhvr>
                                    </p:animEffect>
                                    <p:anim calcmode="lin" valueType="num">
                                      <p:cBhvr>
                                        <p:cTn id="99"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00"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11" grpId="0" build="p"/>
      <p:bldP spid="14" grpId="0" build="p"/>
      <p:bldP spid="17" grpId="0" build="p"/>
      <p:bldP spid="2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Cambria" panose="02040503050406030204" pitchFamily="18" charset="0"/>
                <a:ea typeface="Cambria" panose="020405030504060302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BD236AC5-55AE-7A68-DD78-EBA1891FF8E9}"/>
              </a:ext>
            </a:extLst>
          </p:cNvPr>
          <p:cNvSpPr/>
          <p:nvPr/>
        </p:nvSpPr>
        <p:spPr>
          <a:xfrm>
            <a:off x="6472989" y="1379621"/>
            <a:ext cx="721895" cy="11229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65BC7B2-F38F-B1E0-A1A2-7A62A29F4F3D}"/>
              </a:ext>
            </a:extLst>
          </p:cNvPr>
          <p:cNvSpPr txBox="1"/>
          <p:nvPr/>
        </p:nvSpPr>
        <p:spPr>
          <a:xfrm>
            <a:off x="661753" y="1403684"/>
            <a:ext cx="7865706" cy="4524315"/>
          </a:xfrm>
          <a:prstGeom prst="rect">
            <a:avLst/>
          </a:prstGeom>
          <a:noFill/>
          <a:ln>
            <a:solidFill>
              <a:schemeClr val="bg1">
                <a:lumMod val="85000"/>
              </a:schemeClr>
            </a:solidFill>
          </a:ln>
        </p:spPr>
        <p:txBody>
          <a:bodyPr wrap="square" rtlCol="0">
            <a:spAutoFit/>
          </a:bodyPr>
          <a:lstStyle/>
          <a:p>
            <a:pPr marL="285750" indent="-285750">
              <a:buFont typeface="Arial" panose="020B0604020202020204" pitchFamily="34" charset="0"/>
              <a:buChar char="•"/>
            </a:pPr>
            <a:r>
              <a:rPr lang="en-IN" b="1" dirty="0">
                <a:latin typeface="Cambria" panose="02040503050406030204" pitchFamily="18" charset="0"/>
                <a:ea typeface="Cambria" panose="02040503050406030204" pitchFamily="18" charset="0"/>
              </a:rPr>
              <a:t>Predictive Analytics</a:t>
            </a:r>
          </a:p>
          <a:p>
            <a:pPr marL="742950" lvl="1" indent="-285750">
              <a:buFont typeface="Arial" panose="020B0604020202020204" pitchFamily="34" charset="0"/>
              <a:buChar char="•"/>
            </a:pPr>
            <a:r>
              <a:rPr lang="en-IN" dirty="0">
                <a:latin typeface="Cambria" panose="02040503050406030204" pitchFamily="18" charset="0"/>
                <a:ea typeface="Cambria" panose="02040503050406030204" pitchFamily="18" charset="0"/>
              </a:rPr>
              <a:t>Use Machine Learning models to predict crop yield based on rainfall, temperature, and soil conditions.</a:t>
            </a:r>
          </a:p>
          <a:p>
            <a:pPr marL="285750" indent="-285750">
              <a:buFont typeface="Arial" panose="020B0604020202020204" pitchFamily="34" charset="0"/>
              <a:buChar char="•"/>
            </a:pPr>
            <a:r>
              <a:rPr lang="en-IN" b="1" dirty="0">
                <a:latin typeface="Cambria" panose="02040503050406030204" pitchFamily="18" charset="0"/>
                <a:ea typeface="Cambria" panose="02040503050406030204" pitchFamily="18" charset="0"/>
              </a:rPr>
              <a:t>Crop Recommendation System</a:t>
            </a:r>
          </a:p>
          <a:p>
            <a:pPr marL="742950" lvl="1" indent="-285750">
              <a:buFont typeface="Arial" panose="020B0604020202020204" pitchFamily="34" charset="0"/>
              <a:buChar char="•"/>
            </a:pPr>
            <a:r>
              <a:rPr lang="en-IN" dirty="0">
                <a:latin typeface="Cambria" panose="02040503050406030204" pitchFamily="18" charset="0"/>
                <a:ea typeface="Cambria" panose="02040503050406030204" pitchFamily="18" charset="0"/>
              </a:rPr>
              <a:t>Develop a system that suggests the most suitable crop for a region based on climate and soil characteristics.</a:t>
            </a:r>
          </a:p>
          <a:p>
            <a:pPr marL="285750" indent="-285750">
              <a:buFont typeface="Arial" panose="020B0604020202020204" pitchFamily="34" charset="0"/>
              <a:buChar char="•"/>
            </a:pPr>
            <a:r>
              <a:rPr lang="en-IN" b="1" dirty="0">
                <a:latin typeface="Cambria" panose="02040503050406030204" pitchFamily="18" charset="0"/>
                <a:ea typeface="Cambria" panose="02040503050406030204" pitchFamily="18" charset="0"/>
              </a:rPr>
              <a:t>Disease and Pest Detection</a:t>
            </a:r>
          </a:p>
          <a:p>
            <a:pPr marL="742950" lvl="1" indent="-285750">
              <a:buFont typeface="Arial" panose="020B0604020202020204" pitchFamily="34" charset="0"/>
              <a:buChar char="•"/>
            </a:pPr>
            <a:r>
              <a:rPr lang="en-IN" dirty="0">
                <a:latin typeface="Cambria" panose="02040503050406030204" pitchFamily="18" charset="0"/>
                <a:ea typeface="Cambria" panose="02040503050406030204" pitchFamily="18" charset="0"/>
              </a:rPr>
              <a:t>Use AI and image processing techniques to identify crop diseases and pests at an early stage.</a:t>
            </a:r>
          </a:p>
          <a:p>
            <a:pPr marL="285750" indent="-285750">
              <a:buFont typeface="Arial" panose="020B0604020202020204" pitchFamily="34" charset="0"/>
              <a:buChar char="•"/>
            </a:pPr>
            <a:r>
              <a:rPr lang="en-IN" b="1" dirty="0">
                <a:latin typeface="Cambria" panose="02040503050406030204" pitchFamily="18" charset="0"/>
                <a:ea typeface="Cambria" panose="02040503050406030204" pitchFamily="18" charset="0"/>
              </a:rPr>
              <a:t>Smart Farming Solutions</a:t>
            </a:r>
          </a:p>
          <a:p>
            <a:pPr marL="742950" lvl="1" indent="-285750">
              <a:buFont typeface="Arial" panose="020B0604020202020204" pitchFamily="34" charset="0"/>
              <a:buChar char="•"/>
            </a:pPr>
            <a:r>
              <a:rPr lang="en-IN" dirty="0">
                <a:latin typeface="Cambria" panose="02040503050406030204" pitchFamily="18" charset="0"/>
                <a:ea typeface="Cambria" panose="02040503050406030204" pitchFamily="18" charset="0"/>
              </a:rPr>
              <a:t>Combine AI, IoT, and data analytics to optimize irrigation, fertilizer usage, and resource management.</a:t>
            </a:r>
          </a:p>
          <a:p>
            <a:pPr indent="-285750">
              <a:buFont typeface="Arial" panose="020B0604020202020204" pitchFamily="34" charset="0"/>
              <a:buChar char="•"/>
            </a:pPr>
            <a:r>
              <a:rPr lang="en-IN" b="1" dirty="0">
                <a:latin typeface="Cambria" panose="02040503050406030204" pitchFamily="18" charset="0"/>
                <a:ea typeface="Cambria" panose="02040503050406030204" pitchFamily="18" charset="0"/>
              </a:rPr>
              <a:t>Satellite and Remote Sensing Integration</a:t>
            </a:r>
          </a:p>
          <a:p>
            <a:pPr marL="628650" lvl="2"/>
            <a:r>
              <a:rPr lang="en-IN" dirty="0">
                <a:latin typeface="Cambria" panose="02040503050406030204" pitchFamily="18" charset="0"/>
                <a:ea typeface="Cambria" panose="02040503050406030204" pitchFamily="18" charset="0"/>
              </a:rPr>
              <a:t>Utilize satellite imagery to monitor crop growth, land usage, and agricultural productivity.</a:t>
            </a:r>
          </a:p>
          <a:p>
            <a:pPr lvl="0"/>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514968"/>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5">
            <a:extLst>
              <a:ext uri="{FF2B5EF4-FFF2-40B4-BE49-F238E27FC236}">
                <a16:creationId xmlns:a16="http://schemas.microsoft.com/office/drawing/2014/main" id="{7518184F-EEAD-B731-CADA-82090C9FAE92}"/>
              </a:ext>
            </a:extLst>
          </p:cNvPr>
          <p:cNvSpPr/>
          <p:nvPr/>
        </p:nvSpPr>
        <p:spPr>
          <a:xfrm>
            <a:off x="6408821" y="1435768"/>
            <a:ext cx="978568" cy="7860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D7C651B7-1F52-DD51-5736-C292EEBCC144}"/>
              </a:ext>
            </a:extLst>
          </p:cNvPr>
          <p:cNvSpPr txBox="1"/>
          <p:nvPr/>
        </p:nvSpPr>
        <p:spPr>
          <a:xfrm>
            <a:off x="583819" y="1808936"/>
            <a:ext cx="9651043" cy="400110"/>
          </a:xfrm>
          <a:prstGeom prst="rect">
            <a:avLst/>
          </a:prstGeom>
          <a:noFill/>
        </p:spPr>
        <p:txBody>
          <a:bodyPr wrap="square" rtlCol="0">
            <a:spAutoFit/>
          </a:bodyPr>
          <a:lstStyle/>
          <a:p>
            <a:r>
              <a:rPr lang="en-IN" sz="2000" dirty="0">
                <a:solidFill>
                  <a:schemeClr val="accent1">
                    <a:lumMod val="75000"/>
                  </a:schemeClr>
                </a:solidFill>
                <a:hlinkClick r:id="rId3">
                  <a:extLst>
                    <a:ext uri="{A12FA001-AC4F-418D-AE19-62706E023703}">
                      <ahyp:hlinkClr xmlns:ahyp="http://schemas.microsoft.com/office/drawing/2018/hyperlinkcolor" val="tx"/>
                    </a:ext>
                  </a:extLst>
                </a:hlinkClick>
              </a:rPr>
              <a:t>https://github.com/SamiyaP/Seasonal-Agricultural-Performance-Analysis.git</a:t>
            </a:r>
            <a:endParaRPr lang="en-IN" sz="2000" dirty="0">
              <a:solidFill>
                <a:schemeClr val="accent1">
                  <a:lumMod val="75000"/>
                </a:schemeClr>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mbria" panose="02040503050406030204" pitchFamily="18" charset="0"/>
                <a:ea typeface="Cambria" panose="02040503050406030204" pitchFamily="18" charset="0"/>
              </a:rPr>
              <a:t>VOIS Course Completion Certificate </a:t>
            </a:r>
            <a:br>
              <a:rPr lang="en-IN" sz="3200" dirty="0">
                <a:latin typeface="Cambria" panose="02040503050406030204" pitchFamily="18" charset="0"/>
                <a:ea typeface="Cambria" panose="02040503050406030204" pitchFamily="18" charset="0"/>
              </a:rPr>
            </a:br>
            <a:r>
              <a:rPr lang="en-IN" sz="3200" dirty="0">
                <a:latin typeface="Cambria" panose="02040503050406030204" pitchFamily="18" charset="0"/>
                <a:ea typeface="Cambria" panose="02040503050406030204" pitchFamily="18" charset="0"/>
              </a:rPr>
              <a:t>Course name -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6B0F1DE0-1081-63A9-1E09-F269BCF88587}"/>
              </a:ext>
            </a:extLst>
          </p:cNvPr>
          <p:cNvPicPr>
            <a:picLocks noChangeAspect="1"/>
          </p:cNvPicPr>
          <p:nvPr/>
        </p:nvPicPr>
        <p:blipFill>
          <a:blip r:embed="rId3"/>
          <a:stretch>
            <a:fillRect/>
          </a:stretch>
        </p:blipFill>
        <p:spPr>
          <a:xfrm>
            <a:off x="686604" y="1470157"/>
            <a:ext cx="7318179" cy="519480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A7C6F5-7735-B620-2E4E-73C1E2A3533D}"/>
              </a:ext>
            </a:extLst>
          </p:cNvPr>
          <p:cNvSpPr/>
          <p:nvPr/>
        </p:nvSpPr>
        <p:spPr>
          <a:xfrm>
            <a:off x="1" y="2911642"/>
            <a:ext cx="12192000" cy="994611"/>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3000201"/>
            <a:ext cx="11340000" cy="700114"/>
          </a:xfrm>
          <a:prstGeom prst="rect">
            <a:avLst/>
          </a:prstGeom>
        </p:spPr>
        <p:txBody>
          <a:bodyPr anchor="ctr">
            <a:noAutofit/>
          </a:bodyPr>
          <a:lstStyle/>
          <a:p>
            <a:pPr algn="ctr"/>
            <a:r>
              <a:rPr lang="en-US" sz="4800" b="1" dirty="0">
                <a:solidFill>
                  <a:schemeClr val="bg1"/>
                </a:solidFill>
                <a:latin typeface="Cambria" panose="02040503050406030204" pitchFamily="18" charset="0"/>
                <a:ea typeface="Cambria" panose="020405030504060302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778</TotalTime>
  <Words>832</Words>
  <Application>Microsoft Office PowerPoint</Application>
  <PresentationFormat>Widescreen</PresentationFormat>
  <Paragraphs>58</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Cambria</vt:lpstr>
      <vt:lpstr>Trebuchet MS</vt:lpstr>
      <vt:lpstr>Wingdings</vt:lpstr>
      <vt:lpstr>Wingdings 3</vt:lpstr>
      <vt:lpstr>Facet</vt:lpstr>
      <vt:lpstr>Seasonal Agricultural Performance Analysis</vt:lpstr>
      <vt:lpstr>PROBLEM  STATEMENT</vt:lpstr>
      <vt:lpstr>Project Description   </vt:lpstr>
      <vt:lpstr>WHO ARE THE END USERS?</vt:lpstr>
      <vt:lpstr>Technology Used</vt:lpstr>
      <vt:lpstr>RESULTS </vt:lpstr>
      <vt:lpstr>RESULTS </vt:lpstr>
      <vt:lpstr>Future scope</vt:lpstr>
      <vt:lpstr>GitHub Link</vt:lpstr>
      <vt:lpstr>VOIS Course Completion Certificate  Course name -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9660psr@gmail.com</cp:lastModifiedBy>
  <cp:revision>101</cp:revision>
  <dcterms:created xsi:type="dcterms:W3CDTF">2021-07-11T13:13:15Z</dcterms:created>
  <dcterms:modified xsi:type="dcterms:W3CDTF">2026-09-08T18:16:52Z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